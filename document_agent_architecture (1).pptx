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5943600" y="-1371600"/>
            <a:ext cx="4572000" cy="4572000"/>
          </a:xfrm>
          <a:prstGeom prst="ellipse">
            <a:avLst/>
          </a:prstGeom>
          <a:solidFill>
            <a:srgbClr val="FFFFFF">
              <a:alpha val="5000"/>
            </a:srgbClr>
          </a:solidFill>
          <a:ln/>
        </p:spPr>
      </p:sp>
      <p:sp>
        <p:nvSpPr>
          <p:cNvPr id="3" name="Shape 1"/>
          <p:cNvSpPr/>
          <p:nvPr/>
        </p:nvSpPr>
        <p:spPr>
          <a:xfrm>
            <a:off x="6583680" y="2560320"/>
            <a:ext cx="3657600" cy="3657600"/>
          </a:xfrm>
          <a:prstGeom prst="ellipse">
            <a:avLst/>
          </a:prstGeom>
          <a:solidFill>
            <a:srgbClr val="FFFFFF">
              <a:alpha val="7000"/>
            </a:srgbClr>
          </a:solidFill>
          <a:ln/>
        </p:spPr>
      </p:sp>
      <p:pic>
        <p:nvPicPr>
          <p:cNvPr id="4"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5" name="Text 2"/>
          <p:cNvSpPr/>
          <p:nvPr/>
        </p:nvSpPr>
        <p:spPr>
          <a:xfrm>
            <a:off x="731520" y="1828800"/>
            <a:ext cx="7772400" cy="82296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Document Workflow Agent</a:t>
            </a:r>
            <a:endParaRPr lang="en-US" sz="3800" dirty="0"/>
          </a:p>
        </p:txBody>
      </p:sp>
      <p:sp>
        <p:nvSpPr>
          <p:cNvPr id="6" name="Text 3"/>
          <p:cNvSpPr/>
          <p:nvPr/>
        </p:nvSpPr>
        <p:spPr>
          <a:xfrm>
            <a:off x="731520" y="2606040"/>
            <a:ext cx="7315200" cy="45720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Architecture, Capabilities &amp; Implementation Plan</a:t>
            </a:r>
            <a:endParaRPr lang="en-US" sz="1800" dirty="0"/>
          </a:p>
        </p:txBody>
      </p:sp>
      <p:sp>
        <p:nvSpPr>
          <p:cNvPr id="7" name="Text 4"/>
          <p:cNvSpPr/>
          <p:nvPr/>
        </p:nvSpPr>
        <p:spPr>
          <a:xfrm>
            <a:off x="731520" y="3291840"/>
            <a:ext cx="6858000" cy="1097280"/>
          </a:xfrm>
          <a:prstGeom prst="rect">
            <a:avLst/>
          </a:prstGeom>
          <a:noFill/>
          <a:ln/>
        </p:spPr>
        <p:txBody>
          <a:bodyPr wrap="square" rtlCol="0" anchor="ctr"/>
          <a:lstStyle/>
          <a:p>
            <a:pPr indent="0" marL="0">
              <a:lnSpc>
                <a:spcPct val="140000"/>
              </a:lnSpc>
              <a:buNone/>
            </a:pPr>
            <a:r>
              <a:rPr lang="en-US" sz="1300" dirty="0">
                <a:solidFill>
                  <a:srgbClr val="CBD5E1"/>
                </a:solidFill>
                <a:latin typeface="Calibri" pitchFamily="34" charset="0"/>
                <a:ea typeface="Calibri" pitchFamily="34" charset="-122"/>
                <a:cs typeface="Calibri" pitchFamily="34" charset="-120"/>
              </a:rPr>
              <a:t>An agentic system that brings conversational AI to State Street's document extraction platform — enabling business teams to query operational data, process documents, onboard new extraction workflows, and remediate production issues through a single chat interface backed by an intelligent orchestration layer.</a:t>
            </a:r>
            <a:endParaRPr lang="en-US" sz="1300" dirty="0"/>
          </a:p>
        </p:txBody>
      </p:sp>
      <p:sp>
        <p:nvSpPr>
          <p:cNvPr id="8" name="Text 5"/>
          <p:cNvSpPr/>
          <p:nvPr/>
        </p:nvSpPr>
        <p:spPr>
          <a:xfrm>
            <a:off x="731520" y="4572000"/>
            <a:ext cx="4572000" cy="32004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State Street  •  AI &amp; Document Intelligence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System Architecture</a:t>
            </a:r>
            <a:endParaRPr lang="en-US" sz="2800" dirty="0"/>
          </a:p>
        </p:txBody>
      </p:sp>
      <p:sp>
        <p:nvSpPr>
          <p:cNvPr id="3" name="Text 1"/>
          <p:cNvSpPr/>
          <p:nvPr/>
        </p:nvSpPr>
        <p:spPr>
          <a:xfrm>
            <a:off x="548640" y="777240"/>
            <a:ext cx="822960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Five layers — intelligence concentrated in the orchestrator, conventional infrastructure everywhere else</a:t>
            </a:r>
            <a:endParaRPr lang="en-US" sz="1200" dirty="0"/>
          </a:p>
        </p:txBody>
      </p:sp>
      <p:sp>
        <p:nvSpPr>
          <p:cNvPr id="4" name="Shape 2"/>
          <p:cNvSpPr/>
          <p:nvPr/>
        </p:nvSpPr>
        <p:spPr>
          <a:xfrm>
            <a:off x="548640" y="1234440"/>
            <a:ext cx="8046720" cy="658368"/>
          </a:xfrm>
          <a:prstGeom prst="roundRect">
            <a:avLst>
              <a:gd name="adj" fmla="val 6944"/>
            </a:avLst>
          </a:prstGeom>
          <a:solidFill>
            <a:srgbClr val="1A2744"/>
          </a:solidFill>
          <a:ln/>
        </p:spPr>
      </p:sp>
      <p:sp>
        <p:nvSpPr>
          <p:cNvPr id="5" name="Text 3"/>
          <p:cNvSpPr/>
          <p:nvPr/>
        </p:nvSpPr>
        <p:spPr>
          <a:xfrm>
            <a:off x="777240" y="1289304"/>
            <a:ext cx="7589520" cy="21945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Chat UI</a:t>
            </a:r>
            <a:endParaRPr lang="en-US" sz="1200" dirty="0"/>
          </a:p>
        </p:txBody>
      </p:sp>
      <p:sp>
        <p:nvSpPr>
          <p:cNvPr id="6" name="Text 4"/>
          <p:cNvSpPr/>
          <p:nvPr/>
        </p:nvSpPr>
        <p:spPr>
          <a:xfrm>
            <a:off x="777240" y="1490472"/>
            <a:ext cx="7589520" cy="365760"/>
          </a:xfrm>
          <a:prstGeom prst="rect">
            <a:avLst/>
          </a:prstGeom>
          <a:noFill/>
          <a:ln/>
        </p:spPr>
        <p:txBody>
          <a:bodyPr wrap="square" lIns="0" tIns="0" rIns="0" bIns="0" rtlCol="0" anchor="ctr"/>
          <a:lstStyle/>
          <a:p>
            <a:pPr indent="0" marL="0">
              <a:lnSpc>
                <a:spcPct val="125000"/>
              </a:lnSpc>
              <a:buNone/>
            </a:pPr>
            <a:r>
              <a:rPr lang="en-US" sz="900" dirty="0">
                <a:solidFill>
                  <a:srgbClr val="CBD5E1"/>
                </a:solidFill>
                <a:latin typeface="Calibri" pitchFamily="34" charset="0"/>
                <a:ea typeface="Calibri" pitchFamily="34" charset="-122"/>
                <a:cs typeface="Calibri" pitchFamily="34" charset="-120"/>
              </a:rPr>
              <a:t>SSE-streaming frontend. Rich text input with #-mention autocomplete for referencing documents, batches, and workflows. Renders agent responses with text, action links, file downloads, and collapsed tool-call indicators.</a:t>
            </a:r>
            <a:endParaRPr lang="en-US" sz="900" dirty="0"/>
          </a:p>
        </p:txBody>
      </p:sp>
      <p:sp>
        <p:nvSpPr>
          <p:cNvPr id="7" name="Shape 5"/>
          <p:cNvSpPr/>
          <p:nvPr/>
        </p:nvSpPr>
        <p:spPr>
          <a:xfrm>
            <a:off x="548640" y="1984248"/>
            <a:ext cx="8046720" cy="658368"/>
          </a:xfrm>
          <a:prstGeom prst="roundRect">
            <a:avLst>
              <a:gd name="adj" fmla="val 6944"/>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8" name="Text 6"/>
          <p:cNvSpPr/>
          <p:nvPr/>
        </p:nvSpPr>
        <p:spPr>
          <a:xfrm>
            <a:off x="777240" y="2039112"/>
            <a:ext cx="7589520" cy="21945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API Layer  (FastAPI)</a:t>
            </a:r>
            <a:endParaRPr lang="en-US" sz="1200" dirty="0"/>
          </a:p>
        </p:txBody>
      </p:sp>
      <p:sp>
        <p:nvSpPr>
          <p:cNvPr id="9" name="Text 7"/>
          <p:cNvSpPr/>
          <p:nvPr/>
        </p:nvSpPr>
        <p:spPr>
          <a:xfrm>
            <a:off x="777240" y="2240280"/>
            <a:ext cx="7589520" cy="365760"/>
          </a:xfrm>
          <a:prstGeom prst="rect">
            <a:avLst/>
          </a:prstGeom>
          <a:noFill/>
          <a:ln/>
        </p:spPr>
        <p:txBody>
          <a:bodyPr wrap="square" lIns="0" tIns="0" rIns="0" bIns="0" rtlCol="0" anchor="ctr"/>
          <a:lstStyle/>
          <a:p>
            <a:pPr indent="0" marL="0">
              <a:lnSpc>
                <a:spcPct val="125000"/>
              </a:lnSpc>
              <a:buNone/>
            </a:pPr>
            <a:r>
              <a:rPr lang="en-US" sz="900" dirty="0">
                <a:solidFill>
                  <a:srgbClr val="64748B"/>
                </a:solidFill>
                <a:latin typeface="Calibri" pitchFamily="34" charset="0"/>
                <a:ea typeface="Calibri" pitchFamily="34" charset="-122"/>
                <a:cs typeface="Calibri" pitchFamily="34" charset="-120"/>
              </a:rPr>
              <a:t>Three endpoints: POST /sessions (creates session ID), POST /documents (multipart upload → document ID stored in object storage), POST /chat (JSON in, SSE stream out — no file bytes, no client-supplied history). Server owns conversation state.</a:t>
            </a:r>
            <a:endParaRPr lang="en-US" sz="900" dirty="0"/>
          </a:p>
        </p:txBody>
      </p:sp>
      <p:sp>
        <p:nvSpPr>
          <p:cNvPr id="10" name="Shape 8"/>
          <p:cNvSpPr/>
          <p:nvPr/>
        </p:nvSpPr>
        <p:spPr>
          <a:xfrm>
            <a:off x="548640" y="2734056"/>
            <a:ext cx="8046720" cy="658368"/>
          </a:xfrm>
          <a:prstGeom prst="roundRect">
            <a:avLst>
              <a:gd name="adj" fmla="val 6944"/>
            </a:avLst>
          </a:prstGeom>
          <a:solidFill>
            <a:srgbClr val="2563EB"/>
          </a:solidFill>
          <a:ln/>
        </p:spPr>
      </p:sp>
      <p:sp>
        <p:nvSpPr>
          <p:cNvPr id="11" name="Text 9"/>
          <p:cNvSpPr/>
          <p:nvPr/>
        </p:nvSpPr>
        <p:spPr>
          <a:xfrm>
            <a:off x="777240" y="2788920"/>
            <a:ext cx="7589520" cy="21945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Orchestrator  (Claude via Bedrock)</a:t>
            </a:r>
            <a:endParaRPr lang="en-US" sz="1200" dirty="0"/>
          </a:p>
        </p:txBody>
      </p:sp>
      <p:sp>
        <p:nvSpPr>
          <p:cNvPr id="12" name="Text 10"/>
          <p:cNvSpPr/>
          <p:nvPr/>
        </p:nvSpPr>
        <p:spPr>
          <a:xfrm>
            <a:off x="777240" y="2990088"/>
            <a:ext cx="7589520" cy="365760"/>
          </a:xfrm>
          <a:prstGeom prst="rect">
            <a:avLst/>
          </a:prstGeom>
          <a:noFill/>
          <a:ln/>
        </p:spPr>
        <p:txBody>
          <a:bodyPr wrap="square" lIns="0" tIns="0" rIns="0" bIns="0" rtlCol="0" anchor="ctr"/>
          <a:lstStyle/>
          <a:p>
            <a:pPr indent="0" marL="0">
              <a:lnSpc>
                <a:spcPct val="125000"/>
              </a:lnSpc>
              <a:buNone/>
            </a:pPr>
            <a:r>
              <a:rPr lang="en-US" sz="900" dirty="0">
                <a:solidFill>
                  <a:srgbClr val="BFDBFE"/>
                </a:solidFill>
                <a:latin typeface="Calibri" pitchFamily="34" charset="0"/>
                <a:ea typeface="Calibri" pitchFamily="34" charset="-122"/>
                <a:cs typeface="Calibri" pitchFamily="34" charset="-120"/>
              </a:rPr>
              <a:t>Thin tool-use loop — not a framework. Router classifies each request as reactive (ReAct, 1–2 tool calls) or deliberative (plan-then-execute for multi-step / gated workflows). System prompt assembled dynamically: static base + injected playbooks + session working memory.</a:t>
            </a:r>
            <a:endParaRPr lang="en-US" sz="900" dirty="0"/>
          </a:p>
        </p:txBody>
      </p:sp>
      <p:sp>
        <p:nvSpPr>
          <p:cNvPr id="13" name="Shape 11"/>
          <p:cNvSpPr/>
          <p:nvPr/>
        </p:nvSpPr>
        <p:spPr>
          <a:xfrm>
            <a:off x="548640" y="3483864"/>
            <a:ext cx="8046720" cy="658368"/>
          </a:xfrm>
          <a:prstGeom prst="roundRect">
            <a:avLst>
              <a:gd name="adj" fmla="val 6944"/>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14" name="Text 12"/>
          <p:cNvSpPr/>
          <p:nvPr/>
        </p:nvSpPr>
        <p:spPr>
          <a:xfrm>
            <a:off x="777240" y="3538728"/>
            <a:ext cx="7589520" cy="21945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Tool Layer  (MCP Server → DIP API)</a:t>
            </a:r>
            <a:endParaRPr lang="en-US" sz="1200" dirty="0"/>
          </a:p>
        </p:txBody>
      </p:sp>
      <p:sp>
        <p:nvSpPr>
          <p:cNvPr id="15" name="Text 13"/>
          <p:cNvSpPr/>
          <p:nvPr/>
        </p:nvSpPr>
        <p:spPr>
          <a:xfrm>
            <a:off x="777240" y="3739896"/>
            <a:ext cx="7589520" cy="365760"/>
          </a:xfrm>
          <a:prstGeom prst="rect">
            <a:avLst/>
          </a:prstGeom>
          <a:noFill/>
          <a:ln/>
        </p:spPr>
        <p:txBody>
          <a:bodyPr wrap="square" lIns="0" tIns="0" rIns="0" bIns="0" rtlCol="0" anchor="ctr"/>
          <a:lstStyle/>
          <a:p>
            <a:pPr indent="0" marL="0">
              <a:lnSpc>
                <a:spcPct val="125000"/>
              </a:lnSpc>
              <a:buNone/>
            </a:pPr>
            <a:r>
              <a:rPr lang="en-US" sz="900" dirty="0">
                <a:solidFill>
                  <a:srgbClr val="64748B"/>
                </a:solidFill>
                <a:latin typeface="Calibri" pitchFamily="34" charset="0"/>
                <a:ea typeface="Calibri" pitchFamily="34" charset="-122"/>
                <a:cs typeface="Calibri" pitchFamily="34" charset="-120"/>
              </a:rPr>
              <a:t>~15 tools organized in four tiers by risk: Query (read-only lookups), Process (classify, extract, run workflows), Onboard (create experiments, optimize prompts, deploy), Remediate (diagnose + propose fixes). Every call scoped by tenant + permissions at the boundary. Write actions require human approval.</a:t>
            </a:r>
            <a:endParaRPr lang="en-US" sz="900" dirty="0"/>
          </a:p>
        </p:txBody>
      </p:sp>
      <p:sp>
        <p:nvSpPr>
          <p:cNvPr id="16" name="Shape 14"/>
          <p:cNvSpPr/>
          <p:nvPr/>
        </p:nvSpPr>
        <p:spPr>
          <a:xfrm>
            <a:off x="548640" y="4233672"/>
            <a:ext cx="8046720" cy="658368"/>
          </a:xfrm>
          <a:prstGeom prst="roundRect">
            <a:avLst>
              <a:gd name="adj" fmla="val 6944"/>
            </a:avLst>
          </a:prstGeom>
          <a:solidFill>
            <a:srgbClr val="1A2744"/>
          </a:solidFill>
          <a:ln/>
        </p:spPr>
      </p:sp>
      <p:sp>
        <p:nvSpPr>
          <p:cNvPr id="17" name="Text 15"/>
          <p:cNvSpPr/>
          <p:nvPr/>
        </p:nvSpPr>
        <p:spPr>
          <a:xfrm>
            <a:off x="777240" y="4288536"/>
            <a:ext cx="7589520" cy="21945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 Plane</a:t>
            </a:r>
            <a:endParaRPr lang="en-US" sz="1200" dirty="0"/>
          </a:p>
        </p:txBody>
      </p:sp>
      <p:sp>
        <p:nvSpPr>
          <p:cNvPr id="18" name="Text 16"/>
          <p:cNvSpPr/>
          <p:nvPr/>
        </p:nvSpPr>
        <p:spPr>
          <a:xfrm>
            <a:off x="777240" y="4489704"/>
            <a:ext cx="7589520" cy="365760"/>
          </a:xfrm>
          <a:prstGeom prst="rect">
            <a:avLst/>
          </a:prstGeom>
          <a:noFill/>
          <a:ln/>
        </p:spPr>
        <p:txBody>
          <a:bodyPr wrap="square" lIns="0" tIns="0" rIns="0" bIns="0" rtlCol="0" anchor="ctr"/>
          <a:lstStyle/>
          <a:p>
            <a:pPr indent="0" marL="0">
              <a:lnSpc>
                <a:spcPct val="125000"/>
              </a:lnSpc>
              <a:buNone/>
            </a:pPr>
            <a:r>
              <a:rPr lang="en-US" sz="900" dirty="0">
                <a:solidFill>
                  <a:srgbClr val="CBD5E1"/>
                </a:solidFill>
                <a:latin typeface="Calibri" pitchFamily="34" charset="0"/>
                <a:ea typeface="Calibri" pitchFamily="34" charset="-122"/>
                <a:cs typeface="Calibri" pitchFamily="34" charset="-120"/>
              </a:rPr>
              <a:t>Postgres (sessions, messages as JSONB, workflow registry, execution log, document metadata, ground truth, plan state, approvals). Object storage for document blobs. Existing State Street platform APIs for workflow execution and experiment playground. Langfuse or trace_events table for audit.</a:t>
            </a:r>
            <a:endParaRPr lang="en-US" sz="900" dirty="0"/>
          </a:p>
        </p:txBody>
      </p:sp>
      <p:sp>
        <p:nvSpPr>
          <p:cNvPr id="19" name="Text 17"/>
          <p:cNvSpPr/>
          <p:nvPr/>
        </p:nvSpPr>
        <p:spPr>
          <a:xfrm>
            <a:off x="4389120" y="1901952"/>
            <a:ext cx="365760" cy="13716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a:t>
            </a:r>
            <a:endParaRPr lang="en-US" sz="800" dirty="0"/>
          </a:p>
        </p:txBody>
      </p:sp>
      <p:sp>
        <p:nvSpPr>
          <p:cNvPr id="20" name="Text 18"/>
          <p:cNvSpPr/>
          <p:nvPr/>
        </p:nvSpPr>
        <p:spPr>
          <a:xfrm>
            <a:off x="4389120" y="2651760"/>
            <a:ext cx="365760" cy="13716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a:t>
            </a:r>
            <a:endParaRPr lang="en-US" sz="800" dirty="0"/>
          </a:p>
        </p:txBody>
      </p:sp>
      <p:sp>
        <p:nvSpPr>
          <p:cNvPr id="21" name="Text 19"/>
          <p:cNvSpPr/>
          <p:nvPr/>
        </p:nvSpPr>
        <p:spPr>
          <a:xfrm>
            <a:off x="4389120" y="3401568"/>
            <a:ext cx="365760" cy="13716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a:t>
            </a:r>
            <a:endParaRPr lang="en-US" sz="800" dirty="0"/>
          </a:p>
        </p:txBody>
      </p:sp>
      <p:sp>
        <p:nvSpPr>
          <p:cNvPr id="22" name="Text 20"/>
          <p:cNvSpPr/>
          <p:nvPr/>
        </p:nvSpPr>
        <p:spPr>
          <a:xfrm>
            <a:off x="4389120" y="4151376"/>
            <a:ext cx="365760" cy="13716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Capability Tiers &amp; Tool Inventory</a:t>
            </a:r>
            <a:endParaRPr lang="en-US" sz="2800" dirty="0"/>
          </a:p>
        </p:txBody>
      </p:sp>
      <p:sp>
        <p:nvSpPr>
          <p:cNvPr id="3" name="Text 1"/>
          <p:cNvSpPr/>
          <p:nvPr/>
        </p:nvSpPr>
        <p:spPr>
          <a:xfrm>
            <a:off x="548640" y="777240"/>
            <a:ext cx="822960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Organized by risk — each tier reuses the foundation of the one before it. Build order follows the gradient.</a:t>
            </a:r>
            <a:endParaRPr lang="en-US" sz="1200" dirty="0"/>
          </a:p>
        </p:txBody>
      </p:sp>
      <p:sp>
        <p:nvSpPr>
          <p:cNvPr id="4" name="Shape 2"/>
          <p:cNvSpPr/>
          <p:nvPr/>
        </p:nvSpPr>
        <p:spPr>
          <a:xfrm>
            <a:off x="548640" y="1188720"/>
            <a:ext cx="8046720" cy="896112"/>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5" name="Text 3"/>
          <p:cNvSpPr/>
          <p:nvPr/>
        </p:nvSpPr>
        <p:spPr>
          <a:xfrm>
            <a:off x="777240" y="1243584"/>
            <a:ext cx="4572000" cy="21945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Tier 1 — Operational Queries</a:t>
            </a:r>
            <a:endParaRPr lang="en-US" sz="1200" dirty="0"/>
          </a:p>
        </p:txBody>
      </p:sp>
      <p:sp>
        <p:nvSpPr>
          <p:cNvPr id="6" name="Shape 4"/>
          <p:cNvSpPr/>
          <p:nvPr/>
        </p:nvSpPr>
        <p:spPr>
          <a:xfrm>
            <a:off x="5303520" y="1252728"/>
            <a:ext cx="3108960" cy="201168"/>
          </a:xfrm>
          <a:prstGeom prst="roundRect">
            <a:avLst>
              <a:gd name="adj" fmla="val 13636"/>
            </a:avLst>
          </a:prstGeom>
          <a:solidFill>
            <a:srgbClr val="CCFBF1"/>
          </a:solidFill>
          <a:ln/>
        </p:spPr>
      </p:sp>
      <p:sp>
        <p:nvSpPr>
          <p:cNvPr id="7" name="Text 5"/>
          <p:cNvSpPr/>
          <p:nvPr/>
        </p:nvSpPr>
        <p:spPr>
          <a:xfrm>
            <a:off x="5303520" y="1252728"/>
            <a:ext cx="3108960" cy="201168"/>
          </a:xfrm>
          <a:prstGeom prst="rect">
            <a:avLst/>
          </a:prstGeom>
          <a:noFill/>
          <a:ln/>
        </p:spPr>
        <p:txBody>
          <a:bodyPr wrap="square" lIns="0" tIns="0" rIns="0" bIns="0" rtlCol="0" anchor="ctr"/>
          <a:lstStyle/>
          <a:p>
            <a:pPr algn="ctr" indent="0" marL="0">
              <a:buNone/>
            </a:pPr>
            <a:r>
              <a:rPr lang="en-US" sz="700" b="1" dirty="0">
                <a:solidFill>
                  <a:srgbClr val="0D9488"/>
                </a:solidFill>
                <a:latin typeface="Calibri" pitchFamily="34" charset="0"/>
                <a:ea typeface="Calibri" pitchFamily="34" charset="-122"/>
                <a:cs typeface="Calibri" pitchFamily="34" charset="-120"/>
              </a:rPr>
              <a:t>READ-ONLY  •  REACTIVE  •  BUILD FIRST</a:t>
            </a:r>
            <a:endParaRPr lang="en-US" sz="700" dirty="0"/>
          </a:p>
        </p:txBody>
      </p:sp>
      <p:sp>
        <p:nvSpPr>
          <p:cNvPr id="8" name="Text 6"/>
          <p:cNvSpPr/>
          <p:nvPr/>
        </p:nvSpPr>
        <p:spPr>
          <a:xfrm>
            <a:off x="777240" y="1481328"/>
            <a:ext cx="7589520" cy="347472"/>
          </a:xfrm>
          <a:prstGeom prst="rect">
            <a:avLst/>
          </a:prstGeom>
          <a:noFill/>
          <a:ln/>
        </p:spPr>
        <p:txBody>
          <a:bodyPr wrap="square" lIns="0" tIns="0" rIns="0" bIns="0" rtlCol="0" anchor="ctr"/>
          <a:lstStyle/>
          <a:p>
            <a:pPr indent="0" marL="0">
              <a:lnSpc>
                <a:spcPct val="130000"/>
              </a:lnSpc>
              <a:buNone/>
            </a:pPr>
            <a:r>
              <a:rPr lang="en-US" sz="850" dirty="0">
                <a:solidFill>
                  <a:srgbClr val="64748B"/>
                </a:solidFill>
                <a:latin typeface="Calibri" pitchFamily="34" charset="0"/>
                <a:ea typeface="Calibri" pitchFamily="34" charset="-122"/>
                <a:cs typeface="Calibri" pitchFamily="34" charset="-120"/>
              </a:rPr>
              <a:t>Parameterized lookups against the workflow registry, execution log, and document metadata. Covers questions like: 'What workflows do I have?', 'Show me documents with status Initial in the past 14 days', 'What are the highest-volume workflows I have access to?' No text-to-SQL — tools take typed filter parameters, SQL is fixed and reviewed. Every query scoped by tenant + permissions at the tool boundary.</a:t>
            </a:r>
            <a:endParaRPr lang="en-US" sz="850" dirty="0"/>
          </a:p>
        </p:txBody>
      </p:sp>
      <p:sp>
        <p:nvSpPr>
          <p:cNvPr id="9" name="Text 7"/>
          <p:cNvSpPr/>
          <p:nvPr/>
        </p:nvSpPr>
        <p:spPr>
          <a:xfrm>
            <a:off x="777240" y="1856232"/>
            <a:ext cx="7589520" cy="182880"/>
          </a:xfrm>
          <a:prstGeom prst="rect">
            <a:avLst/>
          </a:prstGeom>
          <a:noFill/>
          <a:ln/>
        </p:spPr>
        <p:txBody>
          <a:bodyPr wrap="square" lIns="0" tIns="0" rIns="0" bIns="0"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Tools: list_workflows  •  query_documents  •  get_usage_stats</a:t>
            </a:r>
            <a:endParaRPr lang="en-US" sz="750" dirty="0"/>
          </a:p>
        </p:txBody>
      </p:sp>
      <p:sp>
        <p:nvSpPr>
          <p:cNvPr id="10" name="Shape 8"/>
          <p:cNvSpPr/>
          <p:nvPr/>
        </p:nvSpPr>
        <p:spPr>
          <a:xfrm>
            <a:off x="548640" y="2157984"/>
            <a:ext cx="8046720" cy="896112"/>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11" name="Text 9"/>
          <p:cNvSpPr/>
          <p:nvPr/>
        </p:nvSpPr>
        <p:spPr>
          <a:xfrm>
            <a:off x="777240" y="2212848"/>
            <a:ext cx="4572000" cy="21945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Tier 2 — In-Chat Document Processing</a:t>
            </a:r>
            <a:endParaRPr lang="en-US" sz="1200" dirty="0"/>
          </a:p>
        </p:txBody>
      </p:sp>
      <p:sp>
        <p:nvSpPr>
          <p:cNvPr id="12" name="Shape 10"/>
          <p:cNvSpPr/>
          <p:nvPr/>
        </p:nvSpPr>
        <p:spPr>
          <a:xfrm>
            <a:off x="5303520" y="2221992"/>
            <a:ext cx="3108960" cy="201168"/>
          </a:xfrm>
          <a:prstGeom prst="roundRect">
            <a:avLst>
              <a:gd name="adj" fmla="val 13636"/>
            </a:avLst>
          </a:prstGeom>
          <a:solidFill>
            <a:srgbClr val="DBEAFE"/>
          </a:solidFill>
          <a:ln/>
        </p:spPr>
      </p:sp>
      <p:sp>
        <p:nvSpPr>
          <p:cNvPr id="13" name="Text 11"/>
          <p:cNvSpPr/>
          <p:nvPr/>
        </p:nvSpPr>
        <p:spPr>
          <a:xfrm>
            <a:off x="5303520" y="2221992"/>
            <a:ext cx="3108960" cy="201168"/>
          </a:xfrm>
          <a:prstGeom prst="rect">
            <a:avLst/>
          </a:prstGeom>
          <a:noFill/>
          <a:ln/>
        </p:spPr>
        <p:txBody>
          <a:bodyPr wrap="square" lIns="0" tIns="0" rIns="0" bIns="0" rtlCol="0" anchor="ctr"/>
          <a:lstStyle/>
          <a:p>
            <a:pPr algn="ctr" indent="0" marL="0">
              <a:buNone/>
            </a:pPr>
            <a:r>
              <a:rPr lang="en-US" sz="700" b="1" dirty="0">
                <a:solidFill>
                  <a:srgbClr val="2563EB"/>
                </a:solidFill>
                <a:latin typeface="Calibri" pitchFamily="34" charset="0"/>
                <a:ea typeface="Calibri" pitchFamily="34" charset="-122"/>
                <a:cs typeface="Calibri" pitchFamily="34" charset="-120"/>
              </a:rPr>
              <a:t>EXECUTE  •  REACTIVE / ASYNC  •  BUILD SECOND</a:t>
            </a:r>
            <a:endParaRPr lang="en-US" sz="700" dirty="0"/>
          </a:p>
        </p:txBody>
      </p:sp>
      <p:sp>
        <p:nvSpPr>
          <p:cNvPr id="14" name="Text 12"/>
          <p:cNvSpPr/>
          <p:nvPr/>
        </p:nvSpPr>
        <p:spPr>
          <a:xfrm>
            <a:off x="777240" y="2450592"/>
            <a:ext cx="7589520" cy="347472"/>
          </a:xfrm>
          <a:prstGeom prst="rect">
            <a:avLst/>
          </a:prstGeom>
          <a:noFill/>
          <a:ln/>
        </p:spPr>
        <p:txBody>
          <a:bodyPr wrap="square" lIns="0" tIns="0" rIns="0" bIns="0" rtlCol="0" anchor="ctr"/>
          <a:lstStyle/>
          <a:p>
            <a:pPr indent="0" marL="0">
              <a:lnSpc>
                <a:spcPct val="130000"/>
              </a:lnSpc>
              <a:buNone/>
            </a:pPr>
            <a:r>
              <a:rPr lang="en-US" sz="850" dirty="0">
                <a:solidFill>
                  <a:srgbClr val="64748B"/>
                </a:solidFill>
                <a:latin typeface="Calibri" pitchFamily="34" charset="0"/>
                <a:ea typeface="Calibri" pitchFamily="34" charset="-122"/>
                <a:cs typeface="Calibri" pitchFamily="34" charset="-120"/>
              </a:rPr>
              <a:t>Acts on documents the user brings — classify, preprocess (OCR), run registered workflows, or ad-hoc extraction against a user-supplied schema. Introduces batch/fan-out via async jobs (fire → poll → download artifact). Mixed-document batches (e.g., Agent Notices with different subtypes) trigger deliberative planning: classify each, group by subtype, extract per group. Ad-hoc results explicitly labeled as ungoverned.</a:t>
            </a:r>
            <a:endParaRPr lang="en-US" sz="850" dirty="0"/>
          </a:p>
        </p:txBody>
      </p:sp>
      <p:sp>
        <p:nvSpPr>
          <p:cNvPr id="15" name="Text 13"/>
          <p:cNvSpPr/>
          <p:nvPr/>
        </p:nvSpPr>
        <p:spPr>
          <a:xfrm>
            <a:off x="777240" y="2825496"/>
            <a:ext cx="7589520" cy="182880"/>
          </a:xfrm>
          <a:prstGeom prst="rect">
            <a:avLst/>
          </a:prstGeom>
          <a:noFill/>
          <a:ln/>
        </p:spPr>
        <p:txBody>
          <a:bodyPr wrap="square" lIns="0" tIns="0" rIns="0" bIns="0"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Tools: classify_document  •  preprocess_document  •  run_workflow  •  extract_adhoc  •  get_job</a:t>
            </a:r>
            <a:endParaRPr lang="en-US" sz="750" dirty="0"/>
          </a:p>
        </p:txBody>
      </p:sp>
      <p:sp>
        <p:nvSpPr>
          <p:cNvPr id="16" name="Shape 14"/>
          <p:cNvSpPr/>
          <p:nvPr/>
        </p:nvSpPr>
        <p:spPr>
          <a:xfrm>
            <a:off x="548640" y="3127248"/>
            <a:ext cx="8046720" cy="896112"/>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17" name="Text 15"/>
          <p:cNvSpPr/>
          <p:nvPr/>
        </p:nvSpPr>
        <p:spPr>
          <a:xfrm>
            <a:off x="777240" y="3182112"/>
            <a:ext cx="4572000" cy="21945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Tier 3 — Self-Service Onboarding</a:t>
            </a:r>
            <a:endParaRPr lang="en-US" sz="1200" dirty="0"/>
          </a:p>
        </p:txBody>
      </p:sp>
      <p:sp>
        <p:nvSpPr>
          <p:cNvPr id="18" name="Shape 16"/>
          <p:cNvSpPr/>
          <p:nvPr/>
        </p:nvSpPr>
        <p:spPr>
          <a:xfrm>
            <a:off x="5303520" y="3191256"/>
            <a:ext cx="3108960" cy="201168"/>
          </a:xfrm>
          <a:prstGeom prst="roundRect">
            <a:avLst>
              <a:gd name="adj" fmla="val 13636"/>
            </a:avLst>
          </a:prstGeom>
          <a:solidFill>
            <a:srgbClr val="FEF3C7"/>
          </a:solidFill>
          <a:ln/>
        </p:spPr>
      </p:sp>
      <p:sp>
        <p:nvSpPr>
          <p:cNvPr id="19" name="Text 17"/>
          <p:cNvSpPr/>
          <p:nvPr/>
        </p:nvSpPr>
        <p:spPr>
          <a:xfrm>
            <a:off x="5303520" y="3191256"/>
            <a:ext cx="3108960" cy="201168"/>
          </a:xfrm>
          <a:prstGeom prst="rect">
            <a:avLst/>
          </a:prstGeom>
          <a:noFill/>
          <a:ln/>
        </p:spPr>
        <p:txBody>
          <a:bodyPr wrap="square" lIns="0" tIns="0" rIns="0" bIns="0" rtlCol="0" anchor="ctr"/>
          <a:lstStyle/>
          <a:p>
            <a:pPr algn="ctr" indent="0" marL="0">
              <a:buNone/>
            </a:pPr>
            <a:r>
              <a:rPr lang="en-US" sz="700" b="1" dirty="0">
                <a:solidFill>
                  <a:srgbClr val="D97706"/>
                </a:solidFill>
                <a:latin typeface="Calibri" pitchFamily="34" charset="0"/>
                <a:ea typeface="Calibri" pitchFamily="34" charset="-122"/>
                <a:cs typeface="Calibri" pitchFamily="34" charset="-120"/>
              </a:rPr>
              <a:t>AUTHORING  •  DELIBERATIVE  •  APPROVAL-GATED</a:t>
            </a:r>
            <a:endParaRPr lang="en-US" sz="700" dirty="0"/>
          </a:p>
        </p:txBody>
      </p:sp>
      <p:sp>
        <p:nvSpPr>
          <p:cNvPr id="20" name="Text 18"/>
          <p:cNvSpPr/>
          <p:nvPr/>
        </p:nvSpPr>
        <p:spPr>
          <a:xfrm>
            <a:off x="777240" y="3419856"/>
            <a:ext cx="7589520" cy="347472"/>
          </a:xfrm>
          <a:prstGeom prst="rect">
            <a:avLst/>
          </a:prstGeom>
          <a:noFill/>
          <a:ln/>
        </p:spPr>
        <p:txBody>
          <a:bodyPr wrap="square" lIns="0" tIns="0" rIns="0" bIns="0" rtlCol="0" anchor="ctr"/>
          <a:lstStyle/>
          <a:p>
            <a:pPr indent="0" marL="0">
              <a:lnSpc>
                <a:spcPct val="130000"/>
              </a:lnSpc>
              <a:buNone/>
            </a:pPr>
            <a:r>
              <a:rPr lang="en-US" sz="850" dirty="0">
                <a:solidFill>
                  <a:srgbClr val="64748B"/>
                </a:solidFill>
                <a:latin typeface="Calibri" pitchFamily="34" charset="0"/>
                <a:ea typeface="Calibri" pitchFamily="34" charset="-122"/>
                <a:cs typeface="Calibri" pitchFamily="34" charset="-120"/>
              </a:rPr>
              <a:t>The agent helps users build new extraction capabilities: set up experiments from uploaded documents + field lists + ground truth, iteratively optimize prompts against eval sets, and deploy new workflows. Supports arbitrary Excel formats for schema and ground truth (LLM-as-parser via read_spreadsheet). The verifiability gap is the key guardrail — the system surfaces when it lacks ground truth to honestly deliver 'best accuracy.'</a:t>
            </a:r>
            <a:endParaRPr lang="en-US" sz="850" dirty="0"/>
          </a:p>
        </p:txBody>
      </p:sp>
      <p:sp>
        <p:nvSpPr>
          <p:cNvPr id="21" name="Text 19"/>
          <p:cNvSpPr/>
          <p:nvPr/>
        </p:nvSpPr>
        <p:spPr>
          <a:xfrm>
            <a:off x="777240" y="3794760"/>
            <a:ext cx="7589520" cy="182880"/>
          </a:xfrm>
          <a:prstGeom prst="rect">
            <a:avLst/>
          </a:prstGeom>
          <a:noFill/>
          <a:ln/>
        </p:spPr>
        <p:txBody>
          <a:bodyPr wrap="square" lIns="0" tIns="0" rIns="0" bIns="0"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Tools: read_spreadsheet  •  create_schema  •  create_ground_truth  •  create_experiment  •  evaluate_extraction  •  optimize_prompt  •  deploy_workflow</a:t>
            </a:r>
            <a:endParaRPr lang="en-US" sz="750" dirty="0"/>
          </a:p>
        </p:txBody>
      </p:sp>
      <p:sp>
        <p:nvSpPr>
          <p:cNvPr id="22" name="Shape 20"/>
          <p:cNvSpPr/>
          <p:nvPr/>
        </p:nvSpPr>
        <p:spPr>
          <a:xfrm>
            <a:off x="548640" y="4096512"/>
            <a:ext cx="8046720" cy="896112"/>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23" name="Text 21"/>
          <p:cNvSpPr/>
          <p:nvPr/>
        </p:nvSpPr>
        <p:spPr>
          <a:xfrm>
            <a:off x="777240" y="4151376"/>
            <a:ext cx="4572000" cy="21945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Tier 4 — PROD Remediation</a:t>
            </a:r>
            <a:endParaRPr lang="en-US" sz="1200" dirty="0"/>
          </a:p>
        </p:txBody>
      </p:sp>
      <p:sp>
        <p:nvSpPr>
          <p:cNvPr id="24" name="Shape 22"/>
          <p:cNvSpPr/>
          <p:nvPr/>
        </p:nvSpPr>
        <p:spPr>
          <a:xfrm>
            <a:off x="5303520" y="4160520"/>
            <a:ext cx="3108960" cy="201168"/>
          </a:xfrm>
          <a:prstGeom prst="roundRect">
            <a:avLst>
              <a:gd name="adj" fmla="val 13636"/>
            </a:avLst>
          </a:prstGeom>
          <a:solidFill>
            <a:srgbClr val="FEE2E2"/>
          </a:solidFill>
          <a:ln/>
        </p:spPr>
      </p:sp>
      <p:sp>
        <p:nvSpPr>
          <p:cNvPr id="25" name="Text 23"/>
          <p:cNvSpPr/>
          <p:nvPr/>
        </p:nvSpPr>
        <p:spPr>
          <a:xfrm>
            <a:off x="5303520" y="4160520"/>
            <a:ext cx="3108960" cy="201168"/>
          </a:xfrm>
          <a:prstGeom prst="rect">
            <a:avLst/>
          </a:prstGeom>
          <a:noFill/>
          <a:ln/>
        </p:spPr>
        <p:txBody>
          <a:bodyPr wrap="square" lIns="0" tIns="0" rIns="0" bIns="0" rtlCol="0" anchor="ctr"/>
          <a:lstStyle/>
          <a:p>
            <a:pPr algn="ctr" indent="0" marL="0">
              <a:buNone/>
            </a:pPr>
            <a:r>
              <a:rPr lang="en-US" sz="700" b="1" dirty="0">
                <a:solidFill>
                  <a:srgbClr val="DC2626"/>
                </a:solidFill>
                <a:latin typeface="Calibri" pitchFamily="34" charset="0"/>
                <a:ea typeface="Calibri" pitchFamily="34" charset="-122"/>
                <a:cs typeface="Calibri" pitchFamily="34" charset="-120"/>
              </a:rPr>
              <a:t>DIAGNOSIS + FIX  •  DELIBERATIVE  •  APPROVAL-GATED</a:t>
            </a:r>
            <a:endParaRPr lang="en-US" sz="700" dirty="0"/>
          </a:p>
        </p:txBody>
      </p:sp>
      <p:sp>
        <p:nvSpPr>
          <p:cNvPr id="26" name="Text 24"/>
          <p:cNvSpPr/>
          <p:nvPr/>
        </p:nvSpPr>
        <p:spPr>
          <a:xfrm>
            <a:off x="777240" y="4389120"/>
            <a:ext cx="7589520" cy="347472"/>
          </a:xfrm>
          <a:prstGeom prst="rect">
            <a:avLst/>
          </a:prstGeom>
          <a:noFill/>
          <a:ln/>
        </p:spPr>
        <p:txBody>
          <a:bodyPr wrap="square" lIns="0" tIns="0" rIns="0" bIns="0" rtlCol="0" anchor="ctr"/>
          <a:lstStyle/>
          <a:p>
            <a:pPr indent="0" marL="0">
              <a:lnSpc>
                <a:spcPct val="130000"/>
              </a:lnSpc>
              <a:buNone/>
            </a:pPr>
            <a:r>
              <a:rPr lang="en-US" sz="850" dirty="0">
                <a:solidFill>
                  <a:srgbClr val="64748B"/>
                </a:solidFill>
                <a:latin typeface="Calibri" pitchFamily="34" charset="0"/>
                <a:ea typeface="Calibri" pitchFamily="34" charset="-122"/>
                <a:cs typeface="Calibri" pitchFamily="34" charset="-120"/>
              </a:rPr>
              <a:t>Closed-loop prompt improvement: analyze PROD review data for recurring field failures (read-only, ship early), then propose targeted prompt fixes that improve the eval set without regressing passing cases. Produces a reviewable diff + before/after per-field metrics as the approval artifact. Diagnosis is reactive; the fix loop is deliberative with mandatory human sign-off.</a:t>
            </a:r>
            <a:endParaRPr lang="en-US" sz="850" dirty="0"/>
          </a:p>
        </p:txBody>
      </p:sp>
      <p:sp>
        <p:nvSpPr>
          <p:cNvPr id="27" name="Text 25"/>
          <p:cNvSpPr/>
          <p:nvPr/>
        </p:nvSpPr>
        <p:spPr>
          <a:xfrm>
            <a:off x="777240" y="4764024"/>
            <a:ext cx="7589520" cy="182880"/>
          </a:xfrm>
          <a:prstGeom prst="rect">
            <a:avLst/>
          </a:prstGeom>
          <a:noFill/>
          <a:ln/>
        </p:spPr>
        <p:txBody>
          <a:bodyPr wrap="square" lIns="0" tIns="0" rIns="0" bIns="0"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Tools: analyze_field_performance  •  propose_prompt_fix</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Implementation Patterns &amp; Build Plan</a:t>
            </a:r>
            <a:endParaRPr lang="en-US" sz="2800" dirty="0"/>
          </a:p>
        </p:txBody>
      </p:sp>
      <p:sp>
        <p:nvSpPr>
          <p:cNvPr id="3" name="Text 1"/>
          <p:cNvSpPr/>
          <p:nvPr/>
        </p:nvSpPr>
        <p:spPr>
          <a:xfrm>
            <a:off x="548640" y="777240"/>
            <a:ext cx="822960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Key architectural decisions and the sequencing that makes them work</a:t>
            </a:r>
            <a:endParaRPr lang="en-US" sz="1200" dirty="0"/>
          </a:p>
        </p:txBody>
      </p:sp>
      <p:sp>
        <p:nvSpPr>
          <p:cNvPr id="4" name="Text 2"/>
          <p:cNvSpPr/>
          <p:nvPr/>
        </p:nvSpPr>
        <p:spPr>
          <a:xfrm>
            <a:off x="548640" y="1188720"/>
            <a:ext cx="3886200" cy="27432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Key Architectural Patterns</a:t>
            </a:r>
            <a:endParaRPr lang="en-US" sz="1400" dirty="0"/>
          </a:p>
        </p:txBody>
      </p:sp>
      <p:sp>
        <p:nvSpPr>
          <p:cNvPr id="5" name="Text 3"/>
          <p:cNvSpPr/>
          <p:nvPr/>
        </p:nvSpPr>
        <p:spPr>
          <a:xfrm>
            <a:off x="548640" y="1508760"/>
            <a:ext cx="3886200" cy="182880"/>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Conversation Persistence</a:t>
            </a:r>
            <a:endParaRPr lang="en-US" sz="950" dirty="0"/>
          </a:p>
        </p:txBody>
      </p:sp>
      <p:sp>
        <p:nvSpPr>
          <p:cNvPr id="6" name="Text 4"/>
          <p:cNvSpPr/>
          <p:nvPr/>
        </p:nvSpPr>
        <p:spPr>
          <a:xfrm>
            <a:off x="548640" y="1691640"/>
            <a:ext cx="3886200" cy="475488"/>
          </a:xfrm>
          <a:prstGeom prst="rect">
            <a:avLst/>
          </a:prstGeom>
          <a:noFill/>
          <a:ln/>
        </p:spPr>
        <p:txBody>
          <a:bodyPr wrap="square" lIns="0" tIns="0" rIns="0" bIns="0" rtlCol="0" anchor="ctr"/>
          <a:lstStyle/>
          <a:p>
            <a:pPr indent="0" marL="0">
              <a:lnSpc>
                <a:spcPct val="125000"/>
              </a:lnSpc>
              <a:buNone/>
            </a:pPr>
            <a:r>
              <a:rPr lang="en-US" sz="800" dirty="0">
                <a:solidFill>
                  <a:srgbClr val="64748B"/>
                </a:solidFill>
                <a:latin typeface="Calibri" pitchFamily="34" charset="0"/>
                <a:ea typeface="Calibri" pitchFamily="34" charset="-122"/>
                <a:cs typeface="Calibri" pitchFamily="34" charset="-120"/>
              </a:rPr>
              <a:t>Messages stored in Postgres as JSONB content blocks with role (user/assistant) and type (human, tool_call, tool_result, agent_text). Full tool-call structure preserved for model context reconstruction. Visible flag controls frontend display vs. model-only rows.</a:t>
            </a:r>
            <a:endParaRPr lang="en-US" sz="800" dirty="0"/>
          </a:p>
        </p:txBody>
      </p:sp>
      <p:sp>
        <p:nvSpPr>
          <p:cNvPr id="7" name="Text 5"/>
          <p:cNvSpPr/>
          <p:nvPr/>
        </p:nvSpPr>
        <p:spPr>
          <a:xfrm>
            <a:off x="548640" y="2148840"/>
            <a:ext cx="3886200" cy="182880"/>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SSE Streaming</a:t>
            </a:r>
            <a:endParaRPr lang="en-US" sz="950" dirty="0"/>
          </a:p>
        </p:txBody>
      </p:sp>
      <p:sp>
        <p:nvSpPr>
          <p:cNvPr id="8" name="Text 6"/>
          <p:cNvSpPr/>
          <p:nvPr/>
        </p:nvSpPr>
        <p:spPr>
          <a:xfrm>
            <a:off x="548640" y="2331720"/>
            <a:ext cx="3886200" cy="475488"/>
          </a:xfrm>
          <a:prstGeom prst="rect">
            <a:avLst/>
          </a:prstGeom>
          <a:noFill/>
          <a:ln/>
        </p:spPr>
        <p:txBody>
          <a:bodyPr wrap="square" lIns="0" tIns="0" rIns="0" bIns="0" rtlCol="0" anchor="ctr"/>
          <a:lstStyle/>
          <a:p>
            <a:pPr indent="0" marL="0">
              <a:lnSpc>
                <a:spcPct val="125000"/>
              </a:lnSpc>
              <a:buNone/>
            </a:pPr>
            <a:r>
              <a:rPr lang="en-US" sz="800" dirty="0">
                <a:solidFill>
                  <a:srgbClr val="64748B"/>
                </a:solidFill>
                <a:latin typeface="Calibri" pitchFamily="34" charset="0"/>
                <a:ea typeface="Calibri" pitchFamily="34" charset="-122"/>
                <a:cs typeface="Calibri" pitchFamily="34" charset="-120"/>
              </a:rPr>
              <a:t>All chat responses streamed via Server-Sent Events — status updates, tool-call indicators, token-by-token text, and job-submission events. SSE events are ephemeral; the persisted messages capture the substance.</a:t>
            </a:r>
            <a:endParaRPr lang="en-US" sz="800" dirty="0"/>
          </a:p>
        </p:txBody>
      </p:sp>
      <p:sp>
        <p:nvSpPr>
          <p:cNvPr id="9" name="Text 7"/>
          <p:cNvSpPr/>
          <p:nvPr/>
        </p:nvSpPr>
        <p:spPr>
          <a:xfrm>
            <a:off x="548640" y="2788920"/>
            <a:ext cx="3886200" cy="182880"/>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Knowledge Layer</a:t>
            </a:r>
            <a:endParaRPr lang="en-US" sz="950" dirty="0"/>
          </a:p>
        </p:txBody>
      </p:sp>
      <p:sp>
        <p:nvSpPr>
          <p:cNvPr id="10" name="Text 8"/>
          <p:cNvSpPr/>
          <p:nvPr/>
        </p:nvSpPr>
        <p:spPr>
          <a:xfrm>
            <a:off x="548640" y="2971800"/>
            <a:ext cx="3886200" cy="475488"/>
          </a:xfrm>
          <a:prstGeom prst="rect">
            <a:avLst/>
          </a:prstGeom>
          <a:noFill/>
          <a:ln/>
        </p:spPr>
        <p:txBody>
          <a:bodyPr wrap="square" lIns="0" tIns="0" rIns="0" bIns="0" rtlCol="0" anchor="ctr"/>
          <a:lstStyle/>
          <a:p>
            <a:pPr indent="0" marL="0">
              <a:lnSpc>
                <a:spcPct val="125000"/>
              </a:lnSpc>
              <a:buNone/>
            </a:pPr>
            <a:r>
              <a:rPr lang="en-US" sz="800" dirty="0">
                <a:solidFill>
                  <a:srgbClr val="64748B"/>
                </a:solidFill>
                <a:latin typeface="Calibri" pitchFamily="34" charset="0"/>
                <a:ea typeface="Calibri" pitchFamily="34" charset="-122"/>
                <a:cs typeface="Calibri" pitchFamily="34" charset="-120"/>
              </a:rPr>
              <a:t>System prompt assembled dynamically: static base (role, document lifecycle rules, behavioral guardrails, planning guidance) + injected playbooks per document type/workflow + session working memory from session_artifacts table.</a:t>
            </a:r>
            <a:endParaRPr lang="en-US" sz="800" dirty="0"/>
          </a:p>
        </p:txBody>
      </p:sp>
      <p:sp>
        <p:nvSpPr>
          <p:cNvPr id="11" name="Text 9"/>
          <p:cNvSpPr/>
          <p:nvPr/>
        </p:nvSpPr>
        <p:spPr>
          <a:xfrm>
            <a:off x="548640" y="3429000"/>
            <a:ext cx="3886200" cy="182880"/>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Human-in-the-Loop</a:t>
            </a:r>
            <a:endParaRPr lang="en-US" sz="950" dirty="0"/>
          </a:p>
        </p:txBody>
      </p:sp>
      <p:sp>
        <p:nvSpPr>
          <p:cNvPr id="12" name="Text 10"/>
          <p:cNvSpPr/>
          <p:nvPr/>
        </p:nvSpPr>
        <p:spPr>
          <a:xfrm>
            <a:off x="548640" y="3611880"/>
            <a:ext cx="3886200" cy="475488"/>
          </a:xfrm>
          <a:prstGeom prst="rect">
            <a:avLst/>
          </a:prstGeom>
          <a:noFill/>
          <a:ln/>
        </p:spPr>
        <p:txBody>
          <a:bodyPr wrap="square" lIns="0" tIns="0" rIns="0" bIns="0" rtlCol="0" anchor="ctr"/>
          <a:lstStyle/>
          <a:p>
            <a:pPr indent="0" marL="0">
              <a:lnSpc>
                <a:spcPct val="125000"/>
              </a:lnSpc>
              <a:buNone/>
            </a:pPr>
            <a:r>
              <a:rPr lang="en-US" sz="800" dirty="0">
                <a:solidFill>
                  <a:srgbClr val="64748B"/>
                </a:solidFill>
                <a:latin typeface="Calibri" pitchFamily="34" charset="0"/>
                <a:ea typeface="Calibri" pitchFamily="34" charset="-122"/>
                <a:cs typeface="Calibri" pitchFamily="34" charset="-120"/>
              </a:rPr>
              <a:t>Conversational confirmation for ReAct (model asks before gated tools). Durable approval gates for deliberative plans — executor pauses, writes to approvals table, resumes on sign-off. All approvals logged for audit.</a:t>
            </a:r>
            <a:endParaRPr lang="en-US" sz="800" dirty="0"/>
          </a:p>
        </p:txBody>
      </p:sp>
      <p:sp>
        <p:nvSpPr>
          <p:cNvPr id="13" name="Text 11"/>
          <p:cNvSpPr/>
          <p:nvPr/>
        </p:nvSpPr>
        <p:spPr>
          <a:xfrm>
            <a:off x="548640" y="4069080"/>
            <a:ext cx="3886200" cy="182880"/>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Long-Running Jobs</a:t>
            </a:r>
            <a:endParaRPr lang="en-US" sz="950" dirty="0"/>
          </a:p>
        </p:txBody>
      </p:sp>
      <p:sp>
        <p:nvSpPr>
          <p:cNvPr id="14" name="Text 12"/>
          <p:cNvSpPr/>
          <p:nvPr/>
        </p:nvSpPr>
        <p:spPr>
          <a:xfrm>
            <a:off x="548640" y="4251960"/>
            <a:ext cx="3886200" cy="475488"/>
          </a:xfrm>
          <a:prstGeom prst="rect">
            <a:avLst/>
          </a:prstGeom>
          <a:noFill/>
          <a:ln/>
        </p:spPr>
        <p:txBody>
          <a:bodyPr wrap="square" lIns="0" tIns="0" rIns="0" bIns="0" rtlCol="0" anchor="ctr"/>
          <a:lstStyle/>
          <a:p>
            <a:pPr indent="0" marL="0">
              <a:lnSpc>
                <a:spcPct val="125000"/>
              </a:lnSpc>
              <a:buNone/>
            </a:pPr>
            <a:r>
              <a:rPr lang="en-US" sz="800" dirty="0">
                <a:solidFill>
                  <a:srgbClr val="64748B"/>
                </a:solidFill>
                <a:latin typeface="Calibri" pitchFamily="34" charset="0"/>
                <a:ea typeface="Calibri" pitchFamily="34" charset="-122"/>
                <a:cs typeface="Calibri" pitchFamily="34" charset="-120"/>
              </a:rPr>
              <a:t>Fire-and-poll: tool returns job_id immediately, job runs in background worker. Agent tells user to check back; get_job reads status. Asyncio polling with SSE keepalives for 1–2 min jobs; event-driven resume for longer.</a:t>
            </a:r>
            <a:endParaRPr lang="en-US" sz="800" dirty="0"/>
          </a:p>
        </p:txBody>
      </p:sp>
      <p:sp>
        <p:nvSpPr>
          <p:cNvPr id="15" name="Text 13"/>
          <p:cNvSpPr/>
          <p:nvPr/>
        </p:nvSpPr>
        <p:spPr>
          <a:xfrm>
            <a:off x="4709160" y="1188720"/>
            <a:ext cx="3886200" cy="27432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Build Sequence</a:t>
            </a:r>
            <a:endParaRPr lang="en-US" sz="1400" dirty="0"/>
          </a:p>
        </p:txBody>
      </p:sp>
      <p:sp>
        <p:nvSpPr>
          <p:cNvPr id="16" name="Shape 14"/>
          <p:cNvSpPr/>
          <p:nvPr/>
        </p:nvSpPr>
        <p:spPr>
          <a:xfrm>
            <a:off x="4709160" y="1508760"/>
            <a:ext cx="3886200" cy="749808"/>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17" name="Text 15"/>
          <p:cNvSpPr/>
          <p:nvPr/>
        </p:nvSpPr>
        <p:spPr>
          <a:xfrm>
            <a:off x="4846320" y="1563624"/>
            <a:ext cx="3611880" cy="18288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Phase 1 — Foundation</a:t>
            </a:r>
            <a:endParaRPr lang="en-US" sz="1000" dirty="0"/>
          </a:p>
        </p:txBody>
      </p:sp>
      <p:sp>
        <p:nvSpPr>
          <p:cNvPr id="18" name="Text 16"/>
          <p:cNvSpPr/>
          <p:nvPr/>
        </p:nvSpPr>
        <p:spPr>
          <a:xfrm>
            <a:off x="4846320" y="1764792"/>
            <a:ext cx="3611880" cy="438912"/>
          </a:xfrm>
          <a:prstGeom prst="rect">
            <a:avLst/>
          </a:prstGeom>
          <a:noFill/>
          <a:ln/>
        </p:spPr>
        <p:txBody>
          <a:bodyPr wrap="square" lIns="0" tIns="0" rIns="0" bIns="0" rtlCol="0" anchor="ctr"/>
          <a:lstStyle/>
          <a:p>
            <a:pPr indent="0" marL="0">
              <a:lnSpc>
                <a:spcPct val="125000"/>
              </a:lnSpc>
              <a:buNone/>
            </a:pPr>
            <a:r>
              <a:rPr lang="en-US" sz="800" dirty="0">
                <a:solidFill>
                  <a:srgbClr val="64748B"/>
                </a:solidFill>
                <a:latin typeface="Calibri" pitchFamily="34" charset="0"/>
                <a:ea typeface="Calibri" pitchFamily="34" charset="-122"/>
                <a:cs typeface="Calibri" pitchFamily="34" charset="-120"/>
              </a:rPr>
              <a:t>FastAPI endpoints (sessions, documents, chat with SSE). Postgres schema (sessions, messages, documents, workflows, executions). Thin Claude tool-use loop via Bedrock. Tier 1 query tools. Tenant/permission scoping. Trace logging.</a:t>
            </a:r>
            <a:endParaRPr lang="en-US" sz="800" dirty="0"/>
          </a:p>
        </p:txBody>
      </p:sp>
      <p:sp>
        <p:nvSpPr>
          <p:cNvPr id="19" name="Shape 17"/>
          <p:cNvSpPr/>
          <p:nvPr/>
        </p:nvSpPr>
        <p:spPr>
          <a:xfrm>
            <a:off x="4709160" y="2350008"/>
            <a:ext cx="3886200" cy="749808"/>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20" name="Text 18"/>
          <p:cNvSpPr/>
          <p:nvPr/>
        </p:nvSpPr>
        <p:spPr>
          <a:xfrm>
            <a:off x="4846320" y="2404872"/>
            <a:ext cx="3611880" cy="18288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Phase 2 — Document Processing</a:t>
            </a:r>
            <a:endParaRPr lang="en-US" sz="1000" dirty="0"/>
          </a:p>
        </p:txBody>
      </p:sp>
      <p:sp>
        <p:nvSpPr>
          <p:cNvPr id="21" name="Text 19"/>
          <p:cNvSpPr/>
          <p:nvPr/>
        </p:nvSpPr>
        <p:spPr>
          <a:xfrm>
            <a:off x="4846320" y="2606040"/>
            <a:ext cx="3611880" cy="438912"/>
          </a:xfrm>
          <a:prstGeom prst="rect">
            <a:avLst/>
          </a:prstGeom>
          <a:noFill/>
          <a:ln/>
        </p:spPr>
        <p:txBody>
          <a:bodyPr wrap="square" lIns="0" tIns="0" rIns="0" bIns="0" rtlCol="0" anchor="ctr"/>
          <a:lstStyle/>
          <a:p>
            <a:pPr indent="0" marL="0">
              <a:lnSpc>
                <a:spcPct val="125000"/>
              </a:lnSpc>
              <a:buNone/>
            </a:pPr>
            <a:r>
              <a:rPr lang="en-US" sz="800" dirty="0">
                <a:solidFill>
                  <a:srgbClr val="64748B"/>
                </a:solidFill>
                <a:latin typeface="Calibri" pitchFamily="34" charset="0"/>
                <a:ea typeface="Calibri" pitchFamily="34" charset="-122"/>
                <a:cs typeface="Calibri" pitchFamily="34" charset="-120"/>
              </a:rPr>
              <a:t>Tier 2 tools (classify, preprocess, run_workflow, extract_adhoc). Async job runner with get_job. Batch/fan-out pattern. Session artifacts table for inter-tool memory. #-mention autocomplete for document references.</a:t>
            </a:r>
            <a:endParaRPr lang="en-US" sz="800" dirty="0"/>
          </a:p>
        </p:txBody>
      </p:sp>
      <p:sp>
        <p:nvSpPr>
          <p:cNvPr id="22" name="Shape 20"/>
          <p:cNvSpPr/>
          <p:nvPr/>
        </p:nvSpPr>
        <p:spPr>
          <a:xfrm>
            <a:off x="4709160" y="3191256"/>
            <a:ext cx="3886200" cy="749808"/>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23" name="Text 21"/>
          <p:cNvSpPr/>
          <p:nvPr/>
        </p:nvSpPr>
        <p:spPr>
          <a:xfrm>
            <a:off x="4846320" y="3246120"/>
            <a:ext cx="3611880" cy="18288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Phase 3 — Onboarding &amp; Eval</a:t>
            </a:r>
            <a:endParaRPr lang="en-US" sz="1000" dirty="0"/>
          </a:p>
        </p:txBody>
      </p:sp>
      <p:sp>
        <p:nvSpPr>
          <p:cNvPr id="24" name="Text 22"/>
          <p:cNvSpPr/>
          <p:nvPr/>
        </p:nvSpPr>
        <p:spPr>
          <a:xfrm>
            <a:off x="4846320" y="3447288"/>
            <a:ext cx="3611880" cy="438912"/>
          </a:xfrm>
          <a:prstGeom prst="rect">
            <a:avLst/>
          </a:prstGeom>
          <a:noFill/>
          <a:ln/>
        </p:spPr>
        <p:txBody>
          <a:bodyPr wrap="square" lIns="0" tIns="0" rIns="0" bIns="0" rtlCol="0" anchor="ctr"/>
          <a:lstStyle/>
          <a:p>
            <a:pPr indent="0" marL="0">
              <a:lnSpc>
                <a:spcPct val="125000"/>
              </a:lnSpc>
              <a:buNone/>
            </a:pPr>
            <a:r>
              <a:rPr lang="en-US" sz="800" dirty="0">
                <a:solidFill>
                  <a:srgbClr val="64748B"/>
                </a:solidFill>
                <a:latin typeface="Calibri" pitchFamily="34" charset="0"/>
                <a:ea typeface="Calibri" pitchFamily="34" charset="-122"/>
                <a:cs typeface="Calibri" pitchFamily="34" charset="-120"/>
              </a:rPr>
              <a:t>Deliberative planning path with plan_executions table. Read_spreadsheet for arbitrary Excel parsing. Schema and ground truth creation. Experiment setup and eval harness. Optimize_prompt loop. Approval gates + approvals table. Playbook retrieval.</a:t>
            </a:r>
            <a:endParaRPr lang="en-US" sz="800" dirty="0"/>
          </a:p>
        </p:txBody>
      </p:sp>
      <p:sp>
        <p:nvSpPr>
          <p:cNvPr id="25" name="Shape 23"/>
          <p:cNvSpPr/>
          <p:nvPr/>
        </p:nvSpPr>
        <p:spPr>
          <a:xfrm>
            <a:off x="4709160" y="4032504"/>
            <a:ext cx="3886200" cy="749808"/>
          </a:xfrm>
          <a:prstGeom prst="rect">
            <a:avLst/>
          </a:prstGeom>
          <a:solidFill>
            <a:srgbClr val="FFFFFF"/>
          </a:solidFill>
          <a:ln w="9525">
            <a:solidFill>
              <a:srgbClr val="E2E8F0"/>
            </a:solidFill>
            <a:prstDash val="solid"/>
          </a:ln>
          <a:effectLst>
            <a:outerShdw sx="100000" sy="100000" kx="0" ky="0" algn="bl" rotWithShape="0" blurRad="50800" dist="25400" dir="8100000">
              <a:srgbClr val="000000">
                <a:alpha val="8000"/>
              </a:srgbClr>
            </a:outerShdw>
          </a:effectLst>
        </p:spPr>
      </p:sp>
      <p:sp>
        <p:nvSpPr>
          <p:cNvPr id="26" name="Text 24"/>
          <p:cNvSpPr/>
          <p:nvPr/>
        </p:nvSpPr>
        <p:spPr>
          <a:xfrm>
            <a:off x="4846320" y="4087368"/>
            <a:ext cx="3611880" cy="18288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Phase 4 — Remediation &amp; Polish</a:t>
            </a:r>
            <a:endParaRPr lang="en-US" sz="1000" dirty="0"/>
          </a:p>
        </p:txBody>
      </p:sp>
      <p:sp>
        <p:nvSpPr>
          <p:cNvPr id="27" name="Text 25"/>
          <p:cNvSpPr/>
          <p:nvPr/>
        </p:nvSpPr>
        <p:spPr>
          <a:xfrm>
            <a:off x="4846320" y="4288536"/>
            <a:ext cx="3611880" cy="438912"/>
          </a:xfrm>
          <a:prstGeom prst="rect">
            <a:avLst/>
          </a:prstGeom>
          <a:noFill/>
          <a:ln/>
        </p:spPr>
        <p:txBody>
          <a:bodyPr wrap="square" lIns="0" tIns="0" rIns="0" bIns="0" rtlCol="0" anchor="ctr"/>
          <a:lstStyle/>
          <a:p>
            <a:pPr indent="0" marL="0">
              <a:lnSpc>
                <a:spcPct val="125000"/>
              </a:lnSpc>
              <a:buNone/>
            </a:pPr>
            <a:r>
              <a:rPr lang="en-US" sz="800" dirty="0">
                <a:solidFill>
                  <a:srgbClr val="64748B"/>
                </a:solidFill>
                <a:latin typeface="Calibri" pitchFamily="34" charset="0"/>
                <a:ea typeface="Calibri" pitchFamily="34" charset="-122"/>
                <a:cs typeface="Calibri" pitchFamily="34" charset="-120"/>
              </a:rPr>
              <a:t>PROD diagnosis (analyze_field_performance). Closed-loop prompt fix with regression testing. Synthetic user testing. Cost/latency profiling. Permission boundary hardening. Admin dashboard for ops visibility.</a:t>
            </a:r>
            <a:endParaRPr lang="en-US" sz="800" dirty="0"/>
          </a:p>
        </p:txBody>
      </p:sp>
      <p:sp>
        <p:nvSpPr>
          <p:cNvPr id="28" name="Text 26"/>
          <p:cNvSpPr/>
          <p:nvPr/>
        </p:nvSpPr>
        <p:spPr>
          <a:xfrm>
            <a:off x="548640" y="4709160"/>
            <a:ext cx="8046720" cy="27432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Tech Stack:  Python / FastAPI  •  Claude Opus via Bedrock  •  MCP Server  •  Postgres + JSONB  •  Object Storage (S3)  •  SSE Streaming  •  Pydantic</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 Workflow Agent — Architecture &amp; Plan</dc:title>
  <dc:subject>PptxGenJS Presentation</dc:subject>
  <dc:creator>State Street</dc:creator>
  <cp:lastModifiedBy>State Street</cp:lastModifiedBy>
  <cp:revision>1</cp:revision>
  <dcterms:created xsi:type="dcterms:W3CDTF">2026-06-05T15:53:34Z</dcterms:created>
  <dcterms:modified xsi:type="dcterms:W3CDTF">2026-06-05T15:53:34Z</dcterms:modified>
</cp:coreProperties>
</file>