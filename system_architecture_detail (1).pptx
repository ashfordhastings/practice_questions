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6217920" y="-1097280"/>
            <a:ext cx="4114800" cy="4114800"/>
          </a:xfrm>
          <a:prstGeom prst="ellipse">
            <a:avLst/>
          </a:prstGeom>
          <a:solidFill>
            <a:srgbClr val="FFFFFF">
              <a:alpha val="5000"/>
            </a:srgbClr>
          </a:solidFill>
          <a:ln/>
        </p:spPr>
      </p:sp>
      <p:sp>
        <p:nvSpPr>
          <p:cNvPr id="3" name="Shape 1"/>
          <p:cNvSpPr/>
          <p:nvPr/>
        </p:nvSpPr>
        <p:spPr>
          <a:xfrm>
            <a:off x="6858000" y="2743200"/>
            <a:ext cx="3200400" cy="3200400"/>
          </a:xfrm>
          <a:prstGeom prst="ellipse">
            <a:avLst/>
          </a:prstGeom>
          <a:solidFill>
            <a:srgbClr val="FFFFFF">
              <a:alpha val="7000"/>
            </a:srgbClr>
          </a:solidFill>
          <a:ln/>
        </p:spPr>
      </p:sp>
      <p:pic>
        <p:nvPicPr>
          <p:cNvPr id="4" name="Image 0" descr="preencoded.png">    </p:cNvPr>
          <p:cNvPicPr>
            <a:picLocks noChangeAspect="1"/>
          </p:cNvPicPr>
          <p:nvPr/>
        </p:nvPicPr>
        <p:blipFill>
          <a:blip r:embed="rId1"/>
          <a:stretch>
            <a:fillRect/>
          </a:stretch>
        </p:blipFill>
        <p:spPr>
          <a:xfrm>
            <a:off x="731520" y="914400"/>
            <a:ext cx="594360" cy="594360"/>
          </a:xfrm>
          <a:prstGeom prst="rect">
            <a:avLst/>
          </a:prstGeom>
        </p:spPr>
      </p:pic>
      <p:sp>
        <p:nvSpPr>
          <p:cNvPr id="5" name="Text 2"/>
          <p:cNvSpPr/>
          <p:nvPr/>
        </p:nvSpPr>
        <p:spPr>
          <a:xfrm>
            <a:off x="731520" y="1691640"/>
            <a:ext cx="7772400" cy="8229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Document Workflow Agent</a:t>
            </a:r>
            <a:endParaRPr lang="en-US" sz="3800" dirty="0"/>
          </a:p>
        </p:txBody>
      </p:sp>
      <p:sp>
        <p:nvSpPr>
          <p:cNvPr id="6" name="Text 3"/>
          <p:cNvSpPr/>
          <p:nvPr/>
        </p:nvSpPr>
        <p:spPr>
          <a:xfrm>
            <a:off x="731520" y="2468880"/>
            <a:ext cx="73152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System Architecture — How It Works</a:t>
            </a:r>
            <a:endParaRPr lang="en-US" sz="1800" dirty="0"/>
          </a:p>
        </p:txBody>
      </p:sp>
      <p:sp>
        <p:nvSpPr>
          <p:cNvPr id="7" name="Text 4"/>
          <p:cNvSpPr/>
          <p:nvPr/>
        </p:nvSpPr>
        <p:spPr>
          <a:xfrm>
            <a:off x="731520" y="3108960"/>
            <a:ext cx="6858000" cy="914400"/>
          </a:xfrm>
          <a:prstGeom prst="rect">
            <a:avLst/>
          </a:prstGeom>
          <a:noFill/>
          <a:ln/>
        </p:spPr>
        <p:txBody>
          <a:bodyPr wrap="square" rtlCol="0" anchor="ctr"/>
          <a:lstStyle/>
          <a:p>
            <a:pPr indent="0" marL="0">
              <a:lnSpc>
                <a:spcPct val="140000"/>
              </a:lnSpc>
              <a:buNone/>
            </a:pPr>
            <a:r>
              <a:rPr lang="en-US" sz="1300" dirty="0">
                <a:solidFill>
                  <a:srgbClr val="CBD5E1"/>
                </a:solidFill>
                <a:latin typeface="Calibri" pitchFamily="34" charset="0"/>
                <a:ea typeface="Calibri" pitchFamily="34" charset="-122"/>
                <a:cs typeface="Calibri" pitchFamily="34" charset="-120"/>
              </a:rPr>
              <a:t>A technical walkthrough of the request lifecycle, strategy routing, the ReAct execution engine, the Plan-Execute orchestrator, and the persistence and streaming layers that tie them together.</a:t>
            </a:r>
            <a:endParaRPr lang="en-US" sz="1300" dirty="0"/>
          </a:p>
        </p:txBody>
      </p:sp>
      <p:sp>
        <p:nvSpPr>
          <p:cNvPr id="8" name="Text 5"/>
          <p:cNvSpPr/>
          <p:nvPr/>
        </p:nvSpPr>
        <p:spPr>
          <a:xfrm>
            <a:off x="731520" y="4480560"/>
            <a:ext cx="4572000" cy="3200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State Street  •  AI &amp; Document Intelligence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Request Lifecycle &amp; Strategy Routing</a:t>
            </a:r>
            <a:endParaRPr lang="en-US" sz="2600" dirty="0"/>
          </a:p>
        </p:txBody>
      </p:sp>
      <p:sp>
        <p:nvSpPr>
          <p:cNvPr id="3" name="Text 1"/>
          <p:cNvSpPr/>
          <p:nvPr/>
        </p:nvSpPr>
        <p:spPr>
          <a:xfrm>
            <a:off x="548640" y="731520"/>
            <a:ext cx="8229600" cy="3200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Every interaction follows one path — the router decides which execution strategy handles it</a:t>
            </a:r>
            <a:endParaRPr lang="en-US" sz="1150" dirty="0"/>
          </a:p>
        </p:txBody>
      </p:sp>
      <p:sp>
        <p:nvSpPr>
          <p:cNvPr id="4" name="Shape 2"/>
          <p:cNvSpPr/>
          <p:nvPr/>
        </p:nvSpPr>
        <p:spPr>
          <a:xfrm>
            <a:off x="548640" y="1143000"/>
            <a:ext cx="1965960" cy="2743200"/>
          </a:xfrm>
          <a:prstGeom prst="rect">
            <a:avLst/>
          </a:prstGeom>
          <a:solidFill>
            <a:srgbClr val="1A2744"/>
          </a:solidFill>
          <a:ln/>
          <a:effectLst>
            <a:outerShdw sx="100000" sy="100000" kx="0" ky="0" algn="bl" rotWithShape="0" blurRad="50800" dist="25400" dir="8100000">
              <a:srgbClr val="000000">
                <a:alpha val="8000"/>
              </a:srgbClr>
            </a:outerShdw>
          </a:effectLst>
        </p:spPr>
      </p:sp>
      <p:sp>
        <p:nvSpPr>
          <p:cNvPr id="5" name="Text 3"/>
          <p:cNvSpPr/>
          <p:nvPr/>
        </p:nvSpPr>
        <p:spPr>
          <a:xfrm>
            <a:off x="658368" y="1252728"/>
            <a:ext cx="914400" cy="201168"/>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1. Receive</a:t>
            </a:r>
            <a:endParaRPr lang="en-US" sz="800" dirty="0"/>
          </a:p>
        </p:txBody>
      </p:sp>
      <p:sp>
        <p:nvSpPr>
          <p:cNvPr id="6" name="Text 4"/>
          <p:cNvSpPr/>
          <p:nvPr/>
        </p:nvSpPr>
        <p:spPr>
          <a:xfrm>
            <a:off x="658368" y="1490472"/>
            <a:ext cx="1746504"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HTTP Request Arrives</a:t>
            </a:r>
            <a:endParaRPr lang="en-US" sz="1200" dirty="0"/>
          </a:p>
        </p:txBody>
      </p:sp>
      <p:sp>
        <p:nvSpPr>
          <p:cNvPr id="7" name="Text 5"/>
          <p:cNvSpPr/>
          <p:nvPr/>
        </p:nvSpPr>
        <p:spPr>
          <a:xfrm>
            <a:off x="658368" y="1801368"/>
            <a:ext cx="1746504" cy="1965960"/>
          </a:xfrm>
          <a:prstGeom prst="rect">
            <a:avLst/>
          </a:prstGeom>
          <a:noFill/>
          <a:ln/>
        </p:spPr>
        <p:txBody>
          <a:bodyPr wrap="square" lIns="0" tIns="0" rIns="0" bIns="0" rtlCol="0" anchor="ctr"/>
          <a:lstStyle/>
          <a:p>
            <a:pPr indent="0" marL="0">
              <a:lnSpc>
                <a:spcPct val="135000"/>
              </a:lnSpc>
              <a:buNone/>
            </a:pPr>
            <a:r>
              <a:rPr lang="en-US" sz="850" dirty="0">
                <a:solidFill>
                  <a:srgbClr val="CBD5E1"/>
                </a:solidFill>
                <a:latin typeface="Calibri" pitchFamily="34" charset="0"/>
                <a:ea typeface="Calibri" pitchFamily="34" charset="-122"/>
                <a:cs typeface="Calibri" pitchFamily="34" charset="-120"/>
              </a:rPr>
              <a:t>User message hits the chat endpoint. The server reconstructs full conversation history from the database — all prior messages, tool calls, and results — and appends any uploaded filenames to the user message so the LLM knows what files are available.</a:t>
            </a:r>
            <a:endParaRPr lang="en-US" sz="850" dirty="0"/>
          </a:p>
        </p:txBody>
      </p:sp>
      <p:sp>
        <p:nvSpPr>
          <p:cNvPr id="8" name="Shape 6"/>
          <p:cNvSpPr/>
          <p:nvPr/>
        </p:nvSpPr>
        <p:spPr>
          <a:xfrm>
            <a:off x="2670048" y="1143000"/>
            <a:ext cx="1965960" cy="2743200"/>
          </a:xfrm>
          <a:prstGeom prst="rect">
            <a:avLst/>
          </a:prstGeom>
          <a:solidFill>
            <a:srgbClr val="2563EB"/>
          </a:solidFill>
          <a:ln/>
          <a:effectLst>
            <a:outerShdw sx="100000" sy="100000" kx="0" ky="0" algn="bl" rotWithShape="0" blurRad="50800" dist="25400" dir="8100000">
              <a:srgbClr val="000000">
                <a:alpha val="8000"/>
              </a:srgbClr>
            </a:outerShdw>
          </a:effectLst>
        </p:spPr>
      </p:sp>
      <p:sp>
        <p:nvSpPr>
          <p:cNvPr id="9" name="Text 7"/>
          <p:cNvSpPr/>
          <p:nvPr/>
        </p:nvSpPr>
        <p:spPr>
          <a:xfrm>
            <a:off x="2779776" y="1252728"/>
            <a:ext cx="914400" cy="201168"/>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2. Route</a:t>
            </a:r>
            <a:endParaRPr lang="en-US" sz="800" dirty="0"/>
          </a:p>
        </p:txBody>
      </p:sp>
      <p:sp>
        <p:nvSpPr>
          <p:cNvPr id="10" name="Text 8"/>
          <p:cNvSpPr/>
          <p:nvPr/>
        </p:nvSpPr>
        <p:spPr>
          <a:xfrm>
            <a:off x="2779776" y="1490472"/>
            <a:ext cx="1746504"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Strategy Classification</a:t>
            </a:r>
            <a:endParaRPr lang="en-US" sz="1200" dirty="0"/>
          </a:p>
        </p:txBody>
      </p:sp>
      <p:sp>
        <p:nvSpPr>
          <p:cNvPr id="11" name="Text 9"/>
          <p:cNvSpPr/>
          <p:nvPr/>
        </p:nvSpPr>
        <p:spPr>
          <a:xfrm>
            <a:off x="2779776" y="1801368"/>
            <a:ext cx="1746504" cy="1965960"/>
          </a:xfrm>
          <a:prstGeom prst="rect">
            <a:avLst/>
          </a:prstGeom>
          <a:noFill/>
          <a:ln/>
        </p:spPr>
        <p:txBody>
          <a:bodyPr wrap="square" lIns="0" tIns="0" rIns="0" bIns="0" rtlCol="0" anchor="ctr"/>
          <a:lstStyle/>
          <a:p>
            <a:pPr indent="0" marL="0">
              <a:lnSpc>
                <a:spcPct val="135000"/>
              </a:lnSpc>
              <a:buNone/>
            </a:pPr>
            <a:r>
              <a:rPr lang="en-US" sz="850" dirty="0">
                <a:solidFill>
                  <a:srgbClr val="BFDBFE"/>
                </a:solidFill>
                <a:latin typeface="Calibri" pitchFamily="34" charset="0"/>
                <a:ea typeface="Calibri" pitchFamily="34" charset="-122"/>
                <a:cs typeface="Calibri" pitchFamily="34" charset="-120"/>
              </a:rPr>
              <a:t>A lightweight LLM call reads the user message and returns either "react" or "plan_execute". Simple lookups, queries, and single-action requests route to ReAct. Multi-step creation, optimization, and setup flows route to Plan-Execute. If plan parsing fails, the system silently degrades to ReAct.</a:t>
            </a:r>
            <a:endParaRPr lang="en-US" sz="850" dirty="0"/>
          </a:p>
        </p:txBody>
      </p:sp>
      <p:sp>
        <p:nvSpPr>
          <p:cNvPr id="12" name="Shape 10"/>
          <p:cNvSpPr/>
          <p:nvPr/>
        </p:nvSpPr>
        <p:spPr>
          <a:xfrm>
            <a:off x="4791456" y="1143000"/>
            <a:ext cx="1965960" cy="274320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13" name="Text 11"/>
          <p:cNvSpPr/>
          <p:nvPr/>
        </p:nvSpPr>
        <p:spPr>
          <a:xfrm>
            <a:off x="4901184" y="1252728"/>
            <a:ext cx="914400" cy="201168"/>
          </a:xfrm>
          <a:prstGeom prst="rect">
            <a:avLst/>
          </a:prstGeom>
          <a:noFill/>
          <a:ln/>
        </p:spPr>
        <p:txBody>
          <a:bodyPr wrap="square" lIns="0" tIns="0" rIns="0" bIns="0" rtlCol="0" anchor="ctr"/>
          <a:lstStyle/>
          <a:p>
            <a:pPr indent="0" marL="0">
              <a:buNone/>
            </a:pPr>
            <a:r>
              <a:rPr lang="en-US" sz="800" b="1" dirty="0">
                <a:solidFill>
                  <a:srgbClr val="1E293B"/>
                </a:solidFill>
                <a:latin typeface="Calibri" pitchFamily="34" charset="0"/>
                <a:ea typeface="Calibri" pitchFamily="34" charset="-122"/>
                <a:cs typeface="Calibri" pitchFamily="34" charset="-120"/>
              </a:rPr>
              <a:t>3. Execute</a:t>
            </a:r>
            <a:endParaRPr lang="en-US" sz="800" dirty="0"/>
          </a:p>
        </p:txBody>
      </p:sp>
      <p:sp>
        <p:nvSpPr>
          <p:cNvPr id="14" name="Text 12"/>
          <p:cNvSpPr/>
          <p:nvPr/>
        </p:nvSpPr>
        <p:spPr>
          <a:xfrm>
            <a:off x="4901184" y="1490472"/>
            <a:ext cx="1746504"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Run the Chosen Strategy</a:t>
            </a:r>
            <a:endParaRPr lang="en-US" sz="1200" dirty="0"/>
          </a:p>
        </p:txBody>
      </p:sp>
      <p:sp>
        <p:nvSpPr>
          <p:cNvPr id="15" name="Text 13"/>
          <p:cNvSpPr/>
          <p:nvPr/>
        </p:nvSpPr>
        <p:spPr>
          <a:xfrm>
            <a:off x="4901184" y="1801368"/>
            <a:ext cx="1746504" cy="1965960"/>
          </a:xfrm>
          <a:prstGeom prst="rect">
            <a:avLst/>
          </a:prstGeom>
          <a:noFill/>
          <a:ln/>
        </p:spPr>
        <p:txBody>
          <a:bodyPr wrap="square" lIns="0" tIns="0" rIns="0" bIns="0" rtlCol="0" anchor="ctr"/>
          <a:lstStyle/>
          <a:p>
            <a:pPr indent="0" marL="0">
              <a:lnSpc>
                <a:spcPct val="135000"/>
              </a:lnSpc>
              <a:buNone/>
            </a:pPr>
            <a:r>
              <a:rPr lang="en-US" sz="850" dirty="0">
                <a:solidFill>
                  <a:srgbClr val="64748B"/>
                </a:solidFill>
                <a:latin typeface="Calibri" pitchFamily="34" charset="0"/>
                <a:ea typeface="Calibri" pitchFamily="34" charset="-122"/>
                <a:cs typeface="Calibri" pitchFamily="34" charset="-120"/>
              </a:rPr>
              <a:t>ReAct: a tight reason → act → observe loop that calls tools iteratively until the LLM produces a final answer. Plan-Execute: a planner LLM generates a structured multi-step plan, then each step is executed as an isolated mini-ReAct loop with its own briefing context. Both strategies share the same underlying ReAct engine and tool dispatch layer.</a:t>
            </a:r>
            <a:endParaRPr lang="en-US" sz="850" dirty="0"/>
          </a:p>
        </p:txBody>
      </p:sp>
      <p:sp>
        <p:nvSpPr>
          <p:cNvPr id="16" name="Shape 14"/>
          <p:cNvSpPr/>
          <p:nvPr/>
        </p:nvSpPr>
        <p:spPr>
          <a:xfrm>
            <a:off x="6912864" y="1143000"/>
            <a:ext cx="1965960" cy="2743200"/>
          </a:xfrm>
          <a:prstGeom prst="rect">
            <a:avLst/>
          </a:prstGeom>
          <a:solidFill>
            <a:srgbClr val="1A2744"/>
          </a:solidFill>
          <a:ln/>
          <a:effectLst>
            <a:outerShdw sx="100000" sy="100000" kx="0" ky="0" algn="bl" rotWithShape="0" blurRad="50800" dist="25400" dir="8100000">
              <a:srgbClr val="000000">
                <a:alpha val="8000"/>
              </a:srgbClr>
            </a:outerShdw>
          </a:effectLst>
        </p:spPr>
      </p:sp>
      <p:sp>
        <p:nvSpPr>
          <p:cNvPr id="17" name="Text 15"/>
          <p:cNvSpPr/>
          <p:nvPr/>
        </p:nvSpPr>
        <p:spPr>
          <a:xfrm>
            <a:off x="7022592" y="1252728"/>
            <a:ext cx="914400" cy="201168"/>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4. Persist</a:t>
            </a:r>
            <a:endParaRPr lang="en-US" sz="800" dirty="0"/>
          </a:p>
        </p:txBody>
      </p:sp>
      <p:sp>
        <p:nvSpPr>
          <p:cNvPr id="18" name="Text 16"/>
          <p:cNvSpPr/>
          <p:nvPr/>
        </p:nvSpPr>
        <p:spPr>
          <a:xfrm>
            <a:off x="7022592" y="1490472"/>
            <a:ext cx="1746504"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Save &amp; Stream Response</a:t>
            </a:r>
            <a:endParaRPr lang="en-US" sz="1200" dirty="0"/>
          </a:p>
        </p:txBody>
      </p:sp>
      <p:sp>
        <p:nvSpPr>
          <p:cNvPr id="19" name="Text 17"/>
          <p:cNvSpPr/>
          <p:nvPr/>
        </p:nvSpPr>
        <p:spPr>
          <a:xfrm>
            <a:off x="7022592" y="1801368"/>
            <a:ext cx="1746504" cy="1965960"/>
          </a:xfrm>
          <a:prstGeom prst="rect">
            <a:avLst/>
          </a:prstGeom>
          <a:noFill/>
          <a:ln/>
        </p:spPr>
        <p:txBody>
          <a:bodyPr wrap="square" lIns="0" tIns="0" rIns="0" bIns="0" rtlCol="0" anchor="ctr"/>
          <a:lstStyle/>
          <a:p>
            <a:pPr indent="0" marL="0">
              <a:lnSpc>
                <a:spcPct val="135000"/>
              </a:lnSpc>
              <a:buNone/>
            </a:pPr>
            <a:r>
              <a:rPr lang="en-US" sz="850" dirty="0">
                <a:solidFill>
                  <a:srgbClr val="CBD5E1"/>
                </a:solidFill>
                <a:latin typeface="Calibri" pitchFamily="34" charset="0"/>
                <a:ea typeface="Calibri" pitchFamily="34" charset="-122"/>
                <a:cs typeface="Calibri" pitchFamily="34" charset="-120"/>
              </a:rPr>
              <a:t>Every message, tool call, tool result, plan, and step result is persisted to the database as typed rows with sequence numbers. The final LLM response is streamed back to the client via Server-Sent Events. The full conversation is recoverable on the next turn.</a:t>
            </a:r>
            <a:endParaRPr lang="en-US" sz="850" dirty="0"/>
          </a:p>
        </p:txBody>
      </p:sp>
      <p:sp>
        <p:nvSpPr>
          <p:cNvPr id="20" name="Text 18"/>
          <p:cNvSpPr/>
          <p:nvPr/>
        </p:nvSpPr>
        <p:spPr>
          <a:xfrm>
            <a:off x="2455164" y="2240280"/>
            <a:ext cx="274320" cy="2743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4576572" y="2240280"/>
            <a:ext cx="274320" cy="2743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6697980" y="2240280"/>
            <a:ext cx="274320" cy="2743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548640" y="4069080"/>
            <a:ext cx="8046720" cy="86868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4" name="Text 22"/>
          <p:cNvSpPr/>
          <p:nvPr/>
        </p:nvSpPr>
        <p:spPr>
          <a:xfrm>
            <a:off x="731520" y="4114800"/>
            <a:ext cx="2743200" cy="201168"/>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Strategy Routing Rules</a:t>
            </a:r>
            <a:endParaRPr lang="en-US" sz="900" dirty="0"/>
          </a:p>
        </p:txBody>
      </p:sp>
      <p:sp>
        <p:nvSpPr>
          <p:cNvPr id="25" name="Text 23"/>
          <p:cNvSpPr/>
          <p:nvPr/>
        </p:nvSpPr>
        <p:spPr>
          <a:xfrm>
            <a:off x="731520" y="4343400"/>
            <a:ext cx="7680960" cy="502920"/>
          </a:xfrm>
          <a:prstGeom prst="rect">
            <a:avLst/>
          </a:prstGeom>
          <a:noFill/>
          <a:ln/>
        </p:spPr>
        <p:txBody>
          <a:bodyPr wrap="square" lIns="0" tIns="0" rIns="0" bIns="0" rtlCol="0" anchor="ctr"/>
          <a:lstStyle/>
          <a:p>
            <a:pPr indent="0" marL="0">
              <a:lnSpc>
                <a:spcPct val="150000"/>
              </a:lnSpc>
              <a:buNone/>
            </a:pPr>
            <a:r>
              <a:rPr lang="en-US" sz="850" dirty="0">
                <a:solidFill>
                  <a:srgbClr val="64748B"/>
                </a:solidFill>
                <a:latin typeface="Calibri" pitchFamily="34" charset="0"/>
                <a:ea typeface="Calibri" pitchFamily="34" charset="-122"/>
                <a:cs typeface="Calibri" pitchFamily="34" charset="-120"/>
              </a:rPr>
              <a:t>ReAct  —  single-question lookups, status checks, ≤2 tool calls  •  triggers: "show", "find", "query", "what is", "list"</a:t>
            </a:r>
            <a:endParaRPr lang="en-US" sz="850" dirty="0"/>
          </a:p>
          <a:p>
            <a:pPr indent="0" marL="0">
              <a:lnSpc>
                <a:spcPct val="150000"/>
              </a:lnSpc>
              <a:buNone/>
            </a:pPr>
            <a:r>
              <a:rPr lang="en-US" sz="850" dirty="0">
                <a:solidFill>
                  <a:srgbClr val="64748B"/>
                </a:solidFill>
                <a:latin typeface="Calibri" pitchFamily="34" charset="0"/>
                <a:ea typeface="Calibri" pitchFamily="34" charset="-122"/>
                <a:cs typeface="Calibri" pitchFamily="34" charset="-120"/>
              </a:rPr>
              <a:t>Plan-Execute  —  multi-step creation/setup flows, optimization  •  triggers: "create", "build", "set up", "optimize"  •  fallback to ReAct on parse failure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The ReAct Loop — Core Execution Engine</a:t>
            </a:r>
            <a:endParaRPr lang="en-US" sz="2600" dirty="0"/>
          </a:p>
        </p:txBody>
      </p:sp>
      <p:sp>
        <p:nvSpPr>
          <p:cNvPr id="3" name="Text 1"/>
          <p:cNvSpPr/>
          <p:nvPr/>
        </p:nvSpPr>
        <p:spPr>
          <a:xfrm>
            <a:off x="548640" y="731520"/>
            <a:ext cx="8229600" cy="3200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Shared by both strategies — the fundamental reason → act → observe cycle that drives all tool use</a:t>
            </a:r>
            <a:endParaRPr lang="en-US" sz="1150" dirty="0"/>
          </a:p>
        </p:txBody>
      </p:sp>
      <p:sp>
        <p:nvSpPr>
          <p:cNvPr id="4" name="Shape 2"/>
          <p:cNvSpPr/>
          <p:nvPr/>
        </p:nvSpPr>
        <p:spPr>
          <a:xfrm>
            <a:off x="548640" y="1143000"/>
            <a:ext cx="4754880" cy="361188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5" name="Text 3"/>
          <p:cNvSpPr/>
          <p:nvPr/>
        </p:nvSpPr>
        <p:spPr>
          <a:xfrm>
            <a:off x="685800" y="1207008"/>
            <a:ext cx="448056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The Loop (bounded by max iterations)</a:t>
            </a:r>
            <a:endParaRPr lang="en-US" sz="1000" dirty="0"/>
          </a:p>
        </p:txBody>
      </p:sp>
      <p:sp>
        <p:nvSpPr>
          <p:cNvPr id="6" name="Shape 4"/>
          <p:cNvSpPr/>
          <p:nvPr/>
        </p:nvSpPr>
        <p:spPr>
          <a:xfrm>
            <a:off x="685800" y="1508760"/>
            <a:ext cx="54864" cy="658368"/>
          </a:xfrm>
          <a:prstGeom prst="rect">
            <a:avLst/>
          </a:prstGeom>
          <a:solidFill>
            <a:srgbClr val="2563EB"/>
          </a:solidFill>
          <a:ln/>
        </p:spPr>
      </p:sp>
      <p:sp>
        <p:nvSpPr>
          <p:cNvPr id="7" name="Text 5"/>
          <p:cNvSpPr/>
          <p:nvPr/>
        </p:nvSpPr>
        <p:spPr>
          <a:xfrm>
            <a:off x="841248" y="1508760"/>
            <a:ext cx="274320" cy="201168"/>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①</a:t>
            </a:r>
            <a:endParaRPr lang="en-US" sz="1100" dirty="0"/>
          </a:p>
        </p:txBody>
      </p:sp>
      <p:sp>
        <p:nvSpPr>
          <p:cNvPr id="8" name="Text 6"/>
          <p:cNvSpPr/>
          <p:nvPr/>
        </p:nvSpPr>
        <p:spPr>
          <a:xfrm>
            <a:off x="1115568" y="1508760"/>
            <a:ext cx="3931920" cy="658368"/>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LLM Call — model receives system prompt + conversation history + any prior tool results from this turn. Generates a response that may contain a tool call, a final text answer, or an intent statement.</a:t>
            </a:r>
            <a:endParaRPr lang="en-US" sz="850" dirty="0"/>
          </a:p>
        </p:txBody>
      </p:sp>
      <p:sp>
        <p:nvSpPr>
          <p:cNvPr id="9" name="Shape 7"/>
          <p:cNvSpPr/>
          <p:nvPr/>
        </p:nvSpPr>
        <p:spPr>
          <a:xfrm>
            <a:off x="685800" y="2313432"/>
            <a:ext cx="54864" cy="658368"/>
          </a:xfrm>
          <a:prstGeom prst="rect">
            <a:avLst/>
          </a:prstGeom>
          <a:solidFill>
            <a:srgbClr val="0D9488"/>
          </a:solidFill>
          <a:ln/>
        </p:spPr>
      </p:sp>
      <p:sp>
        <p:nvSpPr>
          <p:cNvPr id="10" name="Text 8"/>
          <p:cNvSpPr/>
          <p:nvPr/>
        </p:nvSpPr>
        <p:spPr>
          <a:xfrm>
            <a:off x="841248" y="2313432"/>
            <a:ext cx="274320" cy="201168"/>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②</a:t>
            </a:r>
            <a:endParaRPr lang="en-US" sz="1100" dirty="0"/>
          </a:p>
        </p:txBody>
      </p:sp>
      <p:sp>
        <p:nvSpPr>
          <p:cNvPr id="11" name="Text 9"/>
          <p:cNvSpPr/>
          <p:nvPr/>
        </p:nvSpPr>
        <p:spPr>
          <a:xfrm>
            <a:off x="1115568" y="2313432"/>
            <a:ext cx="3931920" cy="658368"/>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Parse Response — extract any tool call JSON from the LLM output. If no tool call is found and the response is a complete answer, exit the loop. If the LLM emits only an intent statement ("I'll look that up") without calling a tool, re-prompt with a nudge to act.</a:t>
            </a:r>
            <a:endParaRPr lang="en-US" sz="850" dirty="0"/>
          </a:p>
        </p:txBody>
      </p:sp>
      <p:sp>
        <p:nvSpPr>
          <p:cNvPr id="12" name="Shape 10"/>
          <p:cNvSpPr/>
          <p:nvPr/>
        </p:nvSpPr>
        <p:spPr>
          <a:xfrm>
            <a:off x="685800" y="3118104"/>
            <a:ext cx="54864" cy="658368"/>
          </a:xfrm>
          <a:prstGeom prst="rect">
            <a:avLst/>
          </a:prstGeom>
          <a:solidFill>
            <a:srgbClr val="7C3AED"/>
          </a:solidFill>
          <a:ln/>
        </p:spPr>
      </p:sp>
      <p:sp>
        <p:nvSpPr>
          <p:cNvPr id="13" name="Text 11"/>
          <p:cNvSpPr/>
          <p:nvPr/>
        </p:nvSpPr>
        <p:spPr>
          <a:xfrm>
            <a:off x="841248" y="3118104"/>
            <a:ext cx="274320" cy="201168"/>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③</a:t>
            </a:r>
            <a:endParaRPr lang="en-US" sz="1100" dirty="0"/>
          </a:p>
        </p:txBody>
      </p:sp>
      <p:sp>
        <p:nvSpPr>
          <p:cNvPr id="14" name="Text 12"/>
          <p:cNvSpPr/>
          <p:nvPr/>
        </p:nvSpPr>
        <p:spPr>
          <a:xfrm>
            <a:off x="1115568" y="3118104"/>
            <a:ext cx="3931920" cy="658368"/>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Execute Tool — dispatch to the tool registry with typed parameters. Infrastructure params (tenant, session, permissions) are injected server-side and never exposed to the LLM. Stream SSE status events ("Calling query_documents…") to the client during execution.</a:t>
            </a:r>
            <a:endParaRPr lang="en-US" sz="850" dirty="0"/>
          </a:p>
        </p:txBody>
      </p:sp>
      <p:sp>
        <p:nvSpPr>
          <p:cNvPr id="15" name="Shape 13"/>
          <p:cNvSpPr/>
          <p:nvPr/>
        </p:nvSpPr>
        <p:spPr>
          <a:xfrm>
            <a:off x="685800" y="3922776"/>
            <a:ext cx="54864" cy="658368"/>
          </a:xfrm>
          <a:prstGeom prst="rect">
            <a:avLst/>
          </a:prstGeom>
          <a:solidFill>
            <a:srgbClr val="D97706"/>
          </a:solidFill>
          <a:ln/>
        </p:spPr>
      </p:sp>
      <p:sp>
        <p:nvSpPr>
          <p:cNvPr id="16" name="Text 14"/>
          <p:cNvSpPr/>
          <p:nvPr/>
        </p:nvSpPr>
        <p:spPr>
          <a:xfrm>
            <a:off x="841248" y="3922776"/>
            <a:ext cx="274320" cy="201168"/>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④</a:t>
            </a:r>
            <a:endParaRPr lang="en-US" sz="1100" dirty="0"/>
          </a:p>
        </p:txBody>
      </p:sp>
      <p:sp>
        <p:nvSpPr>
          <p:cNvPr id="17" name="Text 15"/>
          <p:cNvSpPr/>
          <p:nvPr/>
        </p:nvSpPr>
        <p:spPr>
          <a:xfrm>
            <a:off x="1115568" y="3922776"/>
            <a:ext cx="3931920" cy="658368"/>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Persist &amp; Loop — save both the tool_call and tool_result as messages in the database. Append the tool result to the in-memory message list. Return to step ① for the next LLM reasoning turn.</a:t>
            </a:r>
            <a:endParaRPr lang="en-US" sz="850" dirty="0"/>
          </a:p>
        </p:txBody>
      </p:sp>
      <p:sp>
        <p:nvSpPr>
          <p:cNvPr id="18" name="Text 16"/>
          <p:cNvSpPr/>
          <p:nvPr/>
        </p:nvSpPr>
        <p:spPr>
          <a:xfrm>
            <a:off x="685800" y="4572000"/>
            <a:ext cx="4480560" cy="146304"/>
          </a:xfrm>
          <a:prstGeom prst="rect">
            <a:avLst/>
          </a:prstGeom>
          <a:noFill/>
          <a:ln/>
        </p:spPr>
        <p:txBody>
          <a:bodyPr wrap="square" lIns="0" tIns="0" rIns="0" bIns="0"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 repeat until final answer or max iterations</a:t>
            </a:r>
            <a:endParaRPr lang="en-US" sz="750" dirty="0"/>
          </a:p>
        </p:txBody>
      </p:sp>
      <p:sp>
        <p:nvSpPr>
          <p:cNvPr id="19" name="Shape 17"/>
          <p:cNvSpPr/>
          <p:nvPr/>
        </p:nvSpPr>
        <p:spPr>
          <a:xfrm>
            <a:off x="5577840" y="1143000"/>
            <a:ext cx="3200400" cy="169164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0" name="Text 18"/>
          <p:cNvSpPr/>
          <p:nvPr/>
        </p:nvSpPr>
        <p:spPr>
          <a:xfrm>
            <a:off x="5715000" y="1207008"/>
            <a:ext cx="292608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Special Behaviors</a:t>
            </a:r>
            <a:endParaRPr lang="en-US" sz="1000" dirty="0"/>
          </a:p>
        </p:txBody>
      </p:sp>
      <p:sp>
        <p:nvSpPr>
          <p:cNvPr id="21" name="Text 19"/>
          <p:cNvSpPr/>
          <p:nvPr/>
        </p:nvSpPr>
        <p:spPr>
          <a:xfrm>
            <a:off x="5715000" y="1463040"/>
            <a:ext cx="2926080" cy="1280160"/>
          </a:xfrm>
          <a:prstGeom prst="rect">
            <a:avLst/>
          </a:prstGeom>
          <a:noFill/>
          <a:ln/>
        </p:spPr>
        <p:txBody>
          <a:bodyPr wrap="square" lIns="0" tIns="0" rIns="0" bIns="0" rtlCol="0" anchor="t"/>
          <a:lstStyle/>
          <a:p>
            <a:pPr indent="0" marL="0">
              <a:lnSpc>
                <a:spcPct val="125000"/>
              </a:lnSpc>
              <a:buNone/>
            </a:pPr>
            <a:r>
              <a:rPr lang="en-US" sz="850" b="1" dirty="0">
                <a:solidFill>
                  <a:srgbClr val="1E293B"/>
                </a:solidFill>
              </a:rPr>
              <a:t>Async Polling</a:t>
            </a:r>
            <a:endParaRPr lang="en-US" sz="850" dirty="0"/>
          </a:p>
          <a:p>
            <a:pPr indent="0" marL="0">
              <a:lnSpc>
                <a:spcPct val="125000"/>
              </a:lnSpc>
              <a:buNone/>
            </a:pPr>
            <a:r>
              <a:rPr lang="en-US" sz="800" dirty="0">
                <a:solidFill>
                  <a:srgbClr val="64748B"/>
                </a:solidFill>
              </a:rPr>
              <a:t>Document status polling streams live progress SSEs directly to the client while processing runs.</a:t>
            </a:r>
            <a:endParaRPr lang="en-US" sz="850" dirty="0"/>
          </a:p>
          <a:p>
            <a:pPr indent="0" marL="0">
              <a:lnSpc>
                <a:spcPct val="125000"/>
              </a:lnSpc>
              <a:buNone/>
            </a:pPr>
            <a:r>
              <a:rPr lang="en-US" sz="850" b="1" dirty="0">
                <a:solidFill>
                  <a:srgbClr val="1E293B"/>
                </a:solidFill>
              </a:rPr>
              <a:t>Review Gate</a:t>
            </a:r>
            <a:endParaRPr lang="en-US" sz="850" dirty="0"/>
          </a:p>
          <a:p>
            <a:pPr indent="0" marL="0">
              <a:lnSpc>
                <a:spcPct val="125000"/>
              </a:lnSpc>
              <a:buNone/>
            </a:pPr>
            <a:r>
              <a:rPr lang="en-US" sz="800" dirty="0">
                <a:solidFill>
                  <a:srgbClr val="64748B"/>
                </a:solidFill>
              </a:rPr>
              <a:t>If polling finds documents requiring human review, the loop breaks early with a review link.</a:t>
            </a:r>
            <a:endParaRPr lang="en-US" sz="850" dirty="0"/>
          </a:p>
          <a:p>
            <a:pPr indent="0" marL="0">
              <a:lnSpc>
                <a:spcPct val="125000"/>
              </a:lnSpc>
              <a:buNone/>
            </a:pPr>
            <a:r>
              <a:rPr lang="en-US" sz="850" b="1" dirty="0">
                <a:solidFill>
                  <a:srgbClr val="1E293B"/>
                </a:solidFill>
              </a:rPr>
              <a:t>Intent Leak Detection</a:t>
            </a:r>
            <a:endParaRPr lang="en-US" sz="850" dirty="0"/>
          </a:p>
          <a:p>
            <a:pPr indent="0" marL="0">
              <a:lnSpc>
                <a:spcPct val="125000"/>
              </a:lnSpc>
              <a:buNone/>
            </a:pPr>
            <a:r>
              <a:rPr lang="en-US" sz="800" dirty="0">
                <a:solidFill>
                  <a:srgbClr val="64748B"/>
                </a:solidFill>
              </a:rPr>
              <a:t>Catches when the LLM says "I'll do X" without acting, and re-prompts it to call the actual tool.</a:t>
            </a:r>
            <a:endParaRPr lang="en-US" sz="850" dirty="0"/>
          </a:p>
        </p:txBody>
      </p:sp>
      <p:sp>
        <p:nvSpPr>
          <p:cNvPr id="22" name="Shape 20"/>
          <p:cNvSpPr/>
          <p:nvPr/>
        </p:nvSpPr>
        <p:spPr>
          <a:xfrm>
            <a:off x="5577840" y="2971800"/>
            <a:ext cx="3200400" cy="178308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3" name="Text 21"/>
          <p:cNvSpPr/>
          <p:nvPr/>
        </p:nvSpPr>
        <p:spPr>
          <a:xfrm>
            <a:off x="5715000" y="3035808"/>
            <a:ext cx="292608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Tool Inventory</a:t>
            </a:r>
            <a:endParaRPr lang="en-US" sz="1000" dirty="0"/>
          </a:p>
        </p:txBody>
      </p:sp>
      <p:sp>
        <p:nvSpPr>
          <p:cNvPr id="24" name="Text 22"/>
          <p:cNvSpPr/>
          <p:nvPr/>
        </p:nvSpPr>
        <p:spPr>
          <a:xfrm>
            <a:off x="5715000" y="3291840"/>
            <a:ext cx="2926080" cy="1371600"/>
          </a:xfrm>
          <a:prstGeom prst="rect">
            <a:avLst/>
          </a:prstGeom>
          <a:noFill/>
          <a:ln/>
        </p:spPr>
        <p:txBody>
          <a:bodyPr wrap="square" lIns="0" tIns="0" rIns="0" bIns="0" rtlCol="0" anchor="t"/>
          <a:lstStyle/>
          <a:p>
            <a:pPr indent="0" marL="0">
              <a:lnSpc>
                <a:spcPct val="130000"/>
              </a:lnSpc>
              <a:buNone/>
            </a:pPr>
            <a:r>
              <a:rPr lang="en-US" sz="850" b="1" dirty="0">
                <a:solidFill>
                  <a:srgbClr val="0D9488"/>
                </a:solidFill>
              </a:rPr>
              <a:t>Document &amp; Workflow</a:t>
            </a:r>
            <a:endParaRPr lang="en-US" sz="850" dirty="0"/>
          </a:p>
          <a:p>
            <a:pPr indent="0" marL="0">
              <a:lnSpc>
                <a:spcPct val="130000"/>
              </a:lnSpc>
              <a:buNone/>
            </a:pPr>
            <a:r>
              <a:rPr lang="en-US" sz="750" dirty="0">
                <a:solidFill>
                  <a:srgbClr val="64748B"/>
                </a:solidFill>
                <a:latin typeface="Consolas" pitchFamily="34" charset="0"/>
                <a:ea typeface="Consolas" pitchFamily="34" charset="-122"/>
                <a:cs typeface="Consolas" pitchFamily="34" charset="-120"/>
              </a:rPr>
              <a:t>query_recent_documents, query_workflows, get_workflow_detail, query_projects, get_project_detail, execute_workflow, poll_document_status</a:t>
            </a:r>
            <a:endParaRPr lang="en-US" sz="850" dirty="0"/>
          </a:p>
          <a:p>
            <a:pPr indent="0" marL="0">
              <a:lnSpc>
                <a:spcPct val="130000"/>
              </a:lnSpc>
              <a:buNone/>
            </a:pPr>
            <a:r>
              <a:rPr lang="en-US" sz="850" b="1" dirty="0">
                <a:solidFill>
                  <a:srgbClr val="D97706"/>
                </a:solidFill>
              </a:rPr>
              <a:t>Self-Service &amp; Experiments</a:t>
            </a:r>
            <a:endParaRPr lang="en-US" sz="850" dirty="0"/>
          </a:p>
          <a:p>
            <a:pPr indent="0" marL="0">
              <a:lnSpc>
                <a:spcPct val="130000"/>
              </a:lnSpc>
              <a:buNone/>
            </a:pPr>
            <a:r>
              <a:rPr lang="en-US" sz="750" dirty="0">
                <a:solidFill>
                  <a:srgbClr val="64748B"/>
                </a:solidFill>
                <a:latin typeface="Consolas" pitchFamily="34" charset="0"/>
                <a:ea typeface="Consolas" pitchFamily="34" charset="-122"/>
                <a:cs typeface="Consolas" pitchFamily="34" charset="-120"/>
              </a:rPr>
              <a:t>list_schema_templates, create_schema_template, update_schema_template, list_batches, create_batch, run_batch, get_run_status, create_ground_truth, read_spreadsheet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50292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Plan-Execute Agent</a:t>
            </a:r>
            <a:endParaRPr lang="en-US" sz="2800" dirty="0"/>
          </a:p>
        </p:txBody>
      </p:sp>
      <p:sp>
        <p:nvSpPr>
          <p:cNvPr id="3" name="Text 1"/>
          <p:cNvSpPr/>
          <p:nvPr/>
        </p:nvSpPr>
        <p:spPr>
          <a:xfrm>
            <a:off x="548640" y="731520"/>
            <a:ext cx="8229600" cy="3200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Multi-step orchestration for complex creation, setup, and optimization — three phases with isolated execution contexts</a:t>
            </a:r>
            <a:endParaRPr lang="en-US" sz="1150" dirty="0"/>
          </a:p>
        </p:txBody>
      </p:sp>
      <p:sp>
        <p:nvSpPr>
          <p:cNvPr id="4" name="Shape 2"/>
          <p:cNvSpPr/>
          <p:nvPr/>
        </p:nvSpPr>
        <p:spPr>
          <a:xfrm>
            <a:off x="548640" y="1143000"/>
            <a:ext cx="2606040" cy="288036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5" name="Shape 3"/>
          <p:cNvSpPr/>
          <p:nvPr/>
        </p:nvSpPr>
        <p:spPr>
          <a:xfrm>
            <a:off x="548640" y="1143000"/>
            <a:ext cx="2606040" cy="54864"/>
          </a:xfrm>
          <a:prstGeom prst="rect">
            <a:avLst/>
          </a:prstGeom>
          <a:solidFill>
            <a:srgbClr val="2563EB"/>
          </a:solidFill>
          <a:ln/>
        </p:spPr>
      </p:sp>
      <p:sp>
        <p:nvSpPr>
          <p:cNvPr id="6" name="Shape 4"/>
          <p:cNvSpPr/>
          <p:nvPr/>
        </p:nvSpPr>
        <p:spPr>
          <a:xfrm>
            <a:off x="658368" y="1307592"/>
            <a:ext cx="594360" cy="201168"/>
          </a:xfrm>
          <a:prstGeom prst="rect">
            <a:avLst/>
          </a:prstGeom>
          <a:solidFill>
            <a:srgbClr val="DBEAFE"/>
          </a:solidFill>
          <a:ln/>
        </p:spPr>
      </p:sp>
      <p:sp>
        <p:nvSpPr>
          <p:cNvPr id="7" name="Text 5"/>
          <p:cNvSpPr/>
          <p:nvPr/>
        </p:nvSpPr>
        <p:spPr>
          <a:xfrm>
            <a:off x="658368" y="1307592"/>
            <a:ext cx="594360" cy="201168"/>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Phase 1</a:t>
            </a:r>
            <a:endParaRPr lang="en-US" sz="800" dirty="0"/>
          </a:p>
        </p:txBody>
      </p:sp>
      <p:sp>
        <p:nvSpPr>
          <p:cNvPr id="8" name="Text 6"/>
          <p:cNvSpPr/>
          <p:nvPr/>
        </p:nvSpPr>
        <p:spPr>
          <a:xfrm>
            <a:off x="1325880" y="1280160"/>
            <a:ext cx="169164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Plan</a:t>
            </a:r>
            <a:endParaRPr lang="en-US" sz="1400" dirty="0"/>
          </a:p>
        </p:txBody>
      </p:sp>
      <p:sp>
        <p:nvSpPr>
          <p:cNvPr id="9" name="Text 7"/>
          <p:cNvSpPr/>
          <p:nvPr/>
        </p:nvSpPr>
        <p:spPr>
          <a:xfrm>
            <a:off x="658368" y="1618488"/>
            <a:ext cx="2386584" cy="2286000"/>
          </a:xfrm>
          <a:prstGeom prst="rect">
            <a:avLst/>
          </a:prstGeom>
          <a:noFill/>
          <a:ln/>
        </p:spPr>
        <p:txBody>
          <a:bodyPr wrap="square" lIns="0" tIns="0" rIns="0" bIns="0" rtlCol="0" anchor="ctr"/>
          <a:lstStyle/>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A planner LLM — running a different system prompt from the executor — receives the full conversation history so it can reference prior results (schema IDs, batch IDs, field lists from earlier turns).</a:t>
            </a:r>
            <a:endParaRPr lang="en-US" sz="800" dirty="0"/>
          </a:p>
          <a:p>
            <a:pPr indent="0" marL="0">
              <a:lnSpc>
                <a:spcPct val="130000"/>
              </a:lnSpc>
              <a:buNone/>
            </a:pP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It outputs a structured JSON plan: an ordered list of steps, each with an instruction and an optional context scratchpad carrying grounding data (IDs, field names, sample values) the executor will need.</a:t>
            </a:r>
            <a:endParaRPr lang="en-US" sz="800" dirty="0"/>
          </a:p>
          <a:p>
            <a:pPr indent="0" marL="0">
              <a:lnSpc>
                <a:spcPct val="130000"/>
              </a:lnSpc>
              <a:buNone/>
            </a:pP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The plan is capped at 8 steps, persisted to the database, and streamed to the UI so the user can see the step list before execution begins.</a:t>
            </a:r>
            <a:endParaRPr lang="en-US" sz="800" dirty="0"/>
          </a:p>
        </p:txBody>
      </p:sp>
      <p:sp>
        <p:nvSpPr>
          <p:cNvPr id="10" name="Shape 8"/>
          <p:cNvSpPr/>
          <p:nvPr/>
        </p:nvSpPr>
        <p:spPr>
          <a:xfrm>
            <a:off x="3291840" y="1143000"/>
            <a:ext cx="2606040" cy="288036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11" name="Shape 9"/>
          <p:cNvSpPr/>
          <p:nvPr/>
        </p:nvSpPr>
        <p:spPr>
          <a:xfrm>
            <a:off x="3291840" y="1143000"/>
            <a:ext cx="2606040" cy="54864"/>
          </a:xfrm>
          <a:prstGeom prst="rect">
            <a:avLst/>
          </a:prstGeom>
          <a:solidFill>
            <a:srgbClr val="0D9488"/>
          </a:solidFill>
          <a:ln/>
        </p:spPr>
      </p:sp>
      <p:sp>
        <p:nvSpPr>
          <p:cNvPr id="12" name="Shape 10"/>
          <p:cNvSpPr/>
          <p:nvPr/>
        </p:nvSpPr>
        <p:spPr>
          <a:xfrm>
            <a:off x="3401568" y="1307592"/>
            <a:ext cx="594360" cy="201168"/>
          </a:xfrm>
          <a:prstGeom prst="rect">
            <a:avLst/>
          </a:prstGeom>
          <a:solidFill>
            <a:srgbClr val="CCFBF1"/>
          </a:solidFill>
          <a:ln/>
        </p:spPr>
      </p:sp>
      <p:sp>
        <p:nvSpPr>
          <p:cNvPr id="13" name="Text 11"/>
          <p:cNvSpPr/>
          <p:nvPr/>
        </p:nvSpPr>
        <p:spPr>
          <a:xfrm>
            <a:off x="3401568" y="1307592"/>
            <a:ext cx="594360" cy="201168"/>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Phase 2</a:t>
            </a:r>
            <a:endParaRPr lang="en-US" sz="800" dirty="0"/>
          </a:p>
        </p:txBody>
      </p:sp>
      <p:sp>
        <p:nvSpPr>
          <p:cNvPr id="14" name="Text 12"/>
          <p:cNvSpPr/>
          <p:nvPr/>
        </p:nvSpPr>
        <p:spPr>
          <a:xfrm>
            <a:off x="4069080" y="1280160"/>
            <a:ext cx="169164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Execute</a:t>
            </a:r>
            <a:endParaRPr lang="en-US" sz="1400" dirty="0"/>
          </a:p>
        </p:txBody>
      </p:sp>
      <p:sp>
        <p:nvSpPr>
          <p:cNvPr id="15" name="Text 13"/>
          <p:cNvSpPr/>
          <p:nvPr/>
        </p:nvSpPr>
        <p:spPr>
          <a:xfrm>
            <a:off x="3401568" y="1618488"/>
            <a:ext cx="2386584" cy="2286000"/>
          </a:xfrm>
          <a:prstGeom prst="rect">
            <a:avLst/>
          </a:prstGeom>
          <a:noFill/>
          <a:ln/>
        </p:spPr>
        <p:txBody>
          <a:bodyPr wrap="square" lIns="0" tIns="0" rIns="0" bIns="0" rtlCol="0" anchor="ctr"/>
          <a:lstStyle/>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Each step runs as an isolated mini-ReAct loop (max 3 iterations) with no conversation history — only a purpose-built briefing assembled from five sources:</a:t>
            </a:r>
            <a:endParaRPr lang="en-US" sz="800" dirty="0"/>
          </a:p>
          <a:p>
            <a:pPr indent="0" marL="0">
              <a:lnSpc>
                <a:spcPct val="130000"/>
              </a:lnSpc>
              <a:buNone/>
            </a:pP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① The original user request (preserves constraints like "exclude Filename column")</a:t>
            </a: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② Plan overview + current step instruction</a:t>
            </a: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③ Planner's context scratchpad (IDs, field lists)</a:t>
            </a: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④ Previous step reasoning (LLM prose, ≤2000 chars each)</a:t>
            </a: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⑤ Prior tool outputs (structured JSON, ≤10K chars)</a:t>
            </a:r>
            <a:endParaRPr lang="en-US" sz="800" dirty="0"/>
          </a:p>
          <a:p>
            <a:pPr indent="0" marL="0">
              <a:lnSpc>
                <a:spcPct val="130000"/>
              </a:lnSpc>
              <a:buNone/>
            </a:pP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Results accumulate in shared state — one structured tool output per step, keyed by tool name.</a:t>
            </a:r>
            <a:endParaRPr lang="en-US" sz="800" dirty="0"/>
          </a:p>
        </p:txBody>
      </p:sp>
      <p:sp>
        <p:nvSpPr>
          <p:cNvPr id="16" name="Shape 14"/>
          <p:cNvSpPr/>
          <p:nvPr/>
        </p:nvSpPr>
        <p:spPr>
          <a:xfrm>
            <a:off x="6035040" y="1143000"/>
            <a:ext cx="2606040" cy="288036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17" name="Shape 15"/>
          <p:cNvSpPr/>
          <p:nvPr/>
        </p:nvSpPr>
        <p:spPr>
          <a:xfrm>
            <a:off x="6035040" y="1143000"/>
            <a:ext cx="2606040" cy="54864"/>
          </a:xfrm>
          <a:prstGeom prst="rect">
            <a:avLst/>
          </a:prstGeom>
          <a:solidFill>
            <a:srgbClr val="7C3AED"/>
          </a:solidFill>
          <a:ln/>
        </p:spPr>
      </p:sp>
      <p:sp>
        <p:nvSpPr>
          <p:cNvPr id="18" name="Shape 16"/>
          <p:cNvSpPr/>
          <p:nvPr/>
        </p:nvSpPr>
        <p:spPr>
          <a:xfrm>
            <a:off x="6144768" y="1307592"/>
            <a:ext cx="594360" cy="201168"/>
          </a:xfrm>
          <a:prstGeom prst="rect">
            <a:avLst/>
          </a:prstGeom>
          <a:solidFill>
            <a:srgbClr val="EDE9FE"/>
          </a:solidFill>
          <a:ln/>
        </p:spPr>
      </p:sp>
      <p:sp>
        <p:nvSpPr>
          <p:cNvPr id="19" name="Text 17"/>
          <p:cNvSpPr/>
          <p:nvPr/>
        </p:nvSpPr>
        <p:spPr>
          <a:xfrm>
            <a:off x="6144768" y="1307592"/>
            <a:ext cx="594360" cy="201168"/>
          </a:xfrm>
          <a:prstGeom prst="rect">
            <a:avLst/>
          </a:prstGeom>
          <a:noFill/>
          <a:ln/>
        </p:spPr>
        <p:txBody>
          <a:bodyPr wrap="square" lIns="0" tIns="0" rIns="0" bIns="0"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Phase 3</a:t>
            </a:r>
            <a:endParaRPr lang="en-US" sz="800" dirty="0"/>
          </a:p>
        </p:txBody>
      </p:sp>
      <p:sp>
        <p:nvSpPr>
          <p:cNvPr id="20" name="Text 18"/>
          <p:cNvSpPr/>
          <p:nvPr/>
        </p:nvSpPr>
        <p:spPr>
          <a:xfrm>
            <a:off x="6812280" y="1280160"/>
            <a:ext cx="169164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Synthesize</a:t>
            </a:r>
            <a:endParaRPr lang="en-US" sz="1400" dirty="0"/>
          </a:p>
        </p:txBody>
      </p:sp>
      <p:sp>
        <p:nvSpPr>
          <p:cNvPr id="21" name="Text 19"/>
          <p:cNvSpPr/>
          <p:nvPr/>
        </p:nvSpPr>
        <p:spPr>
          <a:xfrm>
            <a:off x="6144768" y="1618488"/>
            <a:ext cx="2386584" cy="2286000"/>
          </a:xfrm>
          <a:prstGeom prst="rect">
            <a:avLst/>
          </a:prstGeom>
          <a:noFill/>
          <a:ln/>
        </p:spPr>
        <p:txBody>
          <a:bodyPr wrap="square" lIns="0" tIns="0" rIns="0" bIns="0" rtlCol="0" anchor="ctr"/>
          <a:lstStyle/>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After all steps complete, a final LLM call receives the original conversation history plus a synthesis prompt summarizing step results as lean prose — no raw tool data.</a:t>
            </a:r>
            <a:endParaRPr lang="en-US" sz="800" dirty="0"/>
          </a:p>
          <a:p>
            <a:pPr indent="0" marL="0">
              <a:lnSpc>
                <a:spcPct val="130000"/>
              </a:lnSpc>
              <a:buNone/>
            </a:pP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The synthesis LLM generates the user-facing response, tying together what was accomplished across all steps into a coherent answer.</a:t>
            </a:r>
            <a:endParaRPr lang="en-US" sz="800" dirty="0"/>
          </a:p>
          <a:p>
            <a:pPr indent="0" marL="0">
              <a:lnSpc>
                <a:spcPct val="130000"/>
              </a:lnSpc>
              <a:buNone/>
            </a:pPr>
            <a:endParaRPr lang="en-US" sz="800" dirty="0"/>
          </a:p>
          <a:p>
            <a:pPr indent="0" marL="0">
              <a:lnSpc>
                <a:spcPct val="130000"/>
              </a:lnSpc>
              <a:buNone/>
            </a:pPr>
            <a:r>
              <a:rPr lang="en-US" sz="800" dirty="0">
                <a:solidFill>
                  <a:srgbClr val="64748B"/>
                </a:solidFill>
                <a:latin typeface="Calibri" pitchFamily="34" charset="0"/>
                <a:ea typeface="Calibri" pitchFamily="34" charset="-122"/>
                <a:cs typeface="Calibri" pitchFamily="34" charset="-120"/>
              </a:rPr>
              <a:t>This separation means the user never sees raw tool JSON — they get a curated summary that references the right IDs, links, and outcomes.</a:t>
            </a:r>
            <a:endParaRPr lang="en-US" sz="800" dirty="0"/>
          </a:p>
        </p:txBody>
      </p:sp>
      <p:sp>
        <p:nvSpPr>
          <p:cNvPr id="22" name="Text 20"/>
          <p:cNvSpPr/>
          <p:nvPr/>
        </p:nvSpPr>
        <p:spPr>
          <a:xfrm>
            <a:off x="3113532" y="2331720"/>
            <a:ext cx="228600" cy="2743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5856732" y="2331720"/>
            <a:ext cx="228600" cy="2743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548640" y="4160520"/>
            <a:ext cx="8046720" cy="77724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5" name="Text 23"/>
          <p:cNvSpPr/>
          <p:nvPr/>
        </p:nvSpPr>
        <p:spPr>
          <a:xfrm>
            <a:off x="731520" y="4206240"/>
            <a:ext cx="2743200" cy="182880"/>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Key Design Decisions</a:t>
            </a:r>
            <a:endParaRPr lang="en-US" sz="900" dirty="0"/>
          </a:p>
        </p:txBody>
      </p:sp>
      <p:sp>
        <p:nvSpPr>
          <p:cNvPr id="26" name="Text 24"/>
          <p:cNvSpPr/>
          <p:nvPr/>
        </p:nvSpPr>
        <p:spPr>
          <a:xfrm>
            <a:off x="731520" y="4407408"/>
            <a:ext cx="7680960" cy="457200"/>
          </a:xfrm>
          <a:prstGeom prst="rect">
            <a:avLst/>
          </a:prstGeom>
          <a:noFill/>
          <a:ln/>
        </p:spPr>
        <p:txBody>
          <a:bodyPr wrap="square" lIns="0" tIns="0" rIns="0" bIns="0" rtlCol="0" anchor="ctr"/>
          <a:lstStyle/>
          <a:p>
            <a:pPr indent="0" marL="0">
              <a:lnSpc>
                <a:spcPct val="135000"/>
              </a:lnSpc>
              <a:buNone/>
            </a:pPr>
            <a:r>
              <a:rPr lang="en-US" sz="750" dirty="0">
                <a:solidFill>
                  <a:srgbClr val="64748B"/>
                </a:solidFill>
                <a:latin typeface="Calibri" pitchFamily="34" charset="0"/>
                <a:ea typeface="Calibri" pitchFamily="34" charset="-122"/>
                <a:cs typeface="Calibri" pitchFamily="34" charset="-120"/>
              </a:rPr>
              <a:t>Executor has no conversation history — keeps step prompts small and focused; the planner is responsible for grounding.  •  Planner receives full history — needs prior-turn context (schema IDs, batch IDs) to write useful steps.  •  Scratchpad context per step — lets the planner carry structured data forward without the executor needing to re-look up anything.  •  Silent fallback — if plan parsing fails, the system degrades to ReAct rather than erroring.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Persistence Layer &amp; SSE Communication</a:t>
            </a:r>
            <a:endParaRPr lang="en-US" sz="2600" dirty="0"/>
          </a:p>
        </p:txBody>
      </p:sp>
      <p:sp>
        <p:nvSpPr>
          <p:cNvPr id="3" name="Text 1"/>
          <p:cNvSpPr/>
          <p:nvPr/>
        </p:nvSpPr>
        <p:spPr>
          <a:xfrm>
            <a:off x="548640" y="731520"/>
            <a:ext cx="8229600" cy="3200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Every interaction is persisted for context reconstruction and audit — streamed to the client in real time</a:t>
            </a:r>
            <a:endParaRPr lang="en-US" sz="1150" dirty="0"/>
          </a:p>
        </p:txBody>
      </p:sp>
      <p:sp>
        <p:nvSpPr>
          <p:cNvPr id="4" name="Shape 2"/>
          <p:cNvSpPr/>
          <p:nvPr/>
        </p:nvSpPr>
        <p:spPr>
          <a:xfrm>
            <a:off x="548640" y="1143000"/>
            <a:ext cx="4389120" cy="361188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5" name="Text 3"/>
          <p:cNvSpPr/>
          <p:nvPr/>
        </p:nvSpPr>
        <p:spPr>
          <a:xfrm>
            <a:off x="685800" y="1207008"/>
            <a:ext cx="411480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Message Types (persisted to DB)</a:t>
            </a:r>
            <a:endParaRPr lang="en-US" sz="1000" dirty="0"/>
          </a:p>
        </p:txBody>
      </p:sp>
      <p:sp>
        <p:nvSpPr>
          <p:cNvPr id="6" name="Shape 4"/>
          <p:cNvSpPr/>
          <p:nvPr/>
        </p:nvSpPr>
        <p:spPr>
          <a:xfrm>
            <a:off x="640080" y="1508760"/>
            <a:ext cx="4206240" cy="256032"/>
          </a:xfrm>
          <a:prstGeom prst="rect">
            <a:avLst/>
          </a:prstGeom>
          <a:solidFill>
            <a:srgbClr val="1A2744"/>
          </a:solidFill>
          <a:ln/>
        </p:spPr>
      </p:sp>
      <p:sp>
        <p:nvSpPr>
          <p:cNvPr id="7" name="Text 5"/>
          <p:cNvSpPr/>
          <p:nvPr/>
        </p:nvSpPr>
        <p:spPr>
          <a:xfrm>
            <a:off x="731520" y="1527048"/>
            <a:ext cx="960120" cy="219456"/>
          </a:xfrm>
          <a:prstGeom prst="rect">
            <a:avLst/>
          </a:prstGeom>
          <a:noFill/>
          <a:ln/>
        </p:spPr>
        <p:txBody>
          <a:bodyPr wrap="square" lIns="0" tIns="0" rIns="0" bIns="0" rtlCol="0" anchor="ctr"/>
          <a:lstStyle/>
          <a:p>
            <a:pPr indent="0" marL="0">
              <a:buNone/>
            </a:pPr>
            <a:r>
              <a:rPr lang="en-US" sz="750" b="1" dirty="0">
                <a:solidFill>
                  <a:srgbClr val="FFFFFF"/>
                </a:solidFill>
                <a:latin typeface="Consolas" pitchFamily="34" charset="0"/>
                <a:ea typeface="Consolas" pitchFamily="34" charset="-122"/>
                <a:cs typeface="Consolas" pitchFamily="34" charset="-120"/>
              </a:rPr>
              <a:t>messageType</a:t>
            </a:r>
            <a:endParaRPr lang="en-US" sz="750" dirty="0"/>
          </a:p>
        </p:txBody>
      </p:sp>
      <p:sp>
        <p:nvSpPr>
          <p:cNvPr id="8" name="Text 6"/>
          <p:cNvSpPr/>
          <p:nvPr/>
        </p:nvSpPr>
        <p:spPr>
          <a:xfrm>
            <a:off x="1691640" y="1527048"/>
            <a:ext cx="640080" cy="219456"/>
          </a:xfrm>
          <a:prstGeom prst="rect">
            <a:avLst/>
          </a:prstGeom>
          <a:noFill/>
          <a:ln/>
        </p:spPr>
        <p:txBody>
          <a:bodyPr wrap="square" lIns="0" tIns="0" rIns="0" bIns="0" rtlCol="0" anchor="ctr"/>
          <a:lstStyle/>
          <a:p>
            <a:pPr indent="0" marL="0">
              <a:buNone/>
            </a:pPr>
            <a:r>
              <a:rPr lang="en-US" sz="750" b="1" dirty="0">
                <a:solidFill>
                  <a:srgbClr val="FFFFFF"/>
                </a:solidFill>
                <a:latin typeface="Consolas" pitchFamily="34" charset="0"/>
                <a:ea typeface="Consolas" pitchFamily="34" charset="-122"/>
                <a:cs typeface="Consolas" pitchFamily="34" charset="-120"/>
              </a:rPr>
              <a:t>role</a:t>
            </a:r>
            <a:endParaRPr lang="en-US" sz="750" dirty="0"/>
          </a:p>
        </p:txBody>
      </p:sp>
      <p:sp>
        <p:nvSpPr>
          <p:cNvPr id="9" name="Text 7"/>
          <p:cNvSpPr/>
          <p:nvPr/>
        </p:nvSpPr>
        <p:spPr>
          <a:xfrm>
            <a:off x="2331720" y="1527048"/>
            <a:ext cx="2743200" cy="219456"/>
          </a:xfrm>
          <a:prstGeom prst="rect">
            <a:avLst/>
          </a:prstGeom>
          <a:noFill/>
          <a:ln/>
        </p:spPr>
        <p:txBody>
          <a:bodyPr wrap="square" lIns="0" tIns="0" rIns="0" bIns="0" rtlCol="0" anchor="ctr"/>
          <a:lstStyle/>
          <a:p>
            <a:pPr indent="0" marL="0">
              <a:buNone/>
            </a:pPr>
            <a:r>
              <a:rPr lang="en-US" sz="750" b="1" dirty="0">
                <a:solidFill>
                  <a:srgbClr val="FFFFFF"/>
                </a:solidFill>
                <a:latin typeface="Consolas" pitchFamily="34" charset="0"/>
                <a:ea typeface="Consolas" pitchFamily="34" charset="-122"/>
                <a:cs typeface="Consolas" pitchFamily="34" charset="-120"/>
              </a:rPr>
              <a:t>description</a:t>
            </a:r>
            <a:endParaRPr lang="en-US" sz="750" dirty="0"/>
          </a:p>
        </p:txBody>
      </p:sp>
      <p:sp>
        <p:nvSpPr>
          <p:cNvPr id="10" name="Shape 8"/>
          <p:cNvSpPr/>
          <p:nvPr/>
        </p:nvSpPr>
        <p:spPr>
          <a:xfrm>
            <a:off x="640080" y="1764792"/>
            <a:ext cx="4206240" cy="384048"/>
          </a:xfrm>
          <a:prstGeom prst="rect">
            <a:avLst/>
          </a:prstGeom>
          <a:solidFill>
            <a:srgbClr val="F8FAFC"/>
          </a:solidFill>
          <a:ln/>
        </p:spPr>
      </p:sp>
      <p:sp>
        <p:nvSpPr>
          <p:cNvPr id="11" name="Text 9"/>
          <p:cNvSpPr/>
          <p:nvPr/>
        </p:nvSpPr>
        <p:spPr>
          <a:xfrm>
            <a:off x="731520" y="1783080"/>
            <a:ext cx="960120" cy="347472"/>
          </a:xfrm>
          <a:prstGeom prst="rect">
            <a:avLst/>
          </a:prstGeom>
          <a:noFill/>
          <a:ln/>
        </p:spPr>
        <p:txBody>
          <a:bodyPr wrap="square" lIns="0" tIns="0" rIns="0" bIns="0" rtlCol="0" anchor="ctr"/>
          <a:lstStyle/>
          <a:p>
            <a:pPr indent="0" marL="0">
              <a:buNone/>
            </a:pPr>
            <a:r>
              <a:rPr lang="en-US" sz="750" dirty="0">
                <a:solidFill>
                  <a:srgbClr val="2563EB"/>
                </a:solidFill>
                <a:latin typeface="Consolas" pitchFamily="34" charset="0"/>
                <a:ea typeface="Consolas" pitchFamily="34" charset="-122"/>
                <a:cs typeface="Consolas" pitchFamily="34" charset="-120"/>
              </a:rPr>
              <a:t>human</a:t>
            </a:r>
            <a:endParaRPr lang="en-US" sz="750" dirty="0"/>
          </a:p>
        </p:txBody>
      </p:sp>
      <p:sp>
        <p:nvSpPr>
          <p:cNvPr id="12" name="Text 10"/>
          <p:cNvSpPr/>
          <p:nvPr/>
        </p:nvSpPr>
        <p:spPr>
          <a:xfrm>
            <a:off x="1691640" y="1783080"/>
            <a:ext cx="640080" cy="347472"/>
          </a:xfrm>
          <a:prstGeom prst="rect">
            <a:avLst/>
          </a:prstGeom>
          <a:noFill/>
          <a:ln/>
        </p:spPr>
        <p:txBody>
          <a:bodyPr wrap="square" lIns="0" tIns="0" rIns="0" bIns="0" rtlCol="0" anchor="ctr"/>
          <a:lstStyle/>
          <a:p>
            <a:pPr indent="0" marL="0">
              <a:buNone/>
            </a:pPr>
            <a:r>
              <a:rPr lang="en-US" sz="750" dirty="0">
                <a:solidFill>
                  <a:srgbClr val="1E293B"/>
                </a:solidFill>
                <a:latin typeface="Consolas" pitchFamily="34" charset="0"/>
                <a:ea typeface="Consolas" pitchFamily="34" charset="-122"/>
                <a:cs typeface="Consolas" pitchFamily="34" charset="-120"/>
              </a:rPr>
              <a:t>user</a:t>
            </a:r>
            <a:endParaRPr lang="en-US" sz="750" dirty="0"/>
          </a:p>
        </p:txBody>
      </p:sp>
      <p:sp>
        <p:nvSpPr>
          <p:cNvPr id="13" name="Text 11"/>
          <p:cNvSpPr/>
          <p:nvPr/>
        </p:nvSpPr>
        <p:spPr>
          <a:xfrm>
            <a:off x="2331720" y="1783080"/>
            <a:ext cx="2743200" cy="34747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User's raw input text</a:t>
            </a:r>
            <a:endParaRPr lang="en-US" sz="800" dirty="0"/>
          </a:p>
        </p:txBody>
      </p:sp>
      <p:sp>
        <p:nvSpPr>
          <p:cNvPr id="14" name="Shape 12"/>
          <p:cNvSpPr/>
          <p:nvPr/>
        </p:nvSpPr>
        <p:spPr>
          <a:xfrm>
            <a:off x="640080" y="2148840"/>
            <a:ext cx="4206240" cy="384048"/>
          </a:xfrm>
          <a:prstGeom prst="rect">
            <a:avLst/>
          </a:prstGeom>
          <a:solidFill>
            <a:srgbClr val="FFFFFF"/>
          </a:solidFill>
          <a:ln/>
        </p:spPr>
      </p:sp>
      <p:sp>
        <p:nvSpPr>
          <p:cNvPr id="15" name="Text 13"/>
          <p:cNvSpPr/>
          <p:nvPr/>
        </p:nvSpPr>
        <p:spPr>
          <a:xfrm>
            <a:off x="731520" y="2167128"/>
            <a:ext cx="960120" cy="347472"/>
          </a:xfrm>
          <a:prstGeom prst="rect">
            <a:avLst/>
          </a:prstGeom>
          <a:noFill/>
          <a:ln/>
        </p:spPr>
        <p:txBody>
          <a:bodyPr wrap="square" lIns="0" tIns="0" rIns="0" bIns="0" rtlCol="0" anchor="ctr"/>
          <a:lstStyle/>
          <a:p>
            <a:pPr indent="0" marL="0">
              <a:buNone/>
            </a:pPr>
            <a:r>
              <a:rPr lang="en-US" sz="750" dirty="0">
                <a:solidFill>
                  <a:srgbClr val="2563EB"/>
                </a:solidFill>
                <a:latin typeface="Consolas" pitchFamily="34" charset="0"/>
                <a:ea typeface="Consolas" pitchFamily="34" charset="-122"/>
                <a:cs typeface="Consolas" pitchFamily="34" charset="-120"/>
              </a:rPr>
              <a:t>agent_text</a:t>
            </a:r>
            <a:endParaRPr lang="en-US" sz="750" dirty="0"/>
          </a:p>
        </p:txBody>
      </p:sp>
      <p:sp>
        <p:nvSpPr>
          <p:cNvPr id="16" name="Text 14"/>
          <p:cNvSpPr/>
          <p:nvPr/>
        </p:nvSpPr>
        <p:spPr>
          <a:xfrm>
            <a:off x="1691640" y="2167128"/>
            <a:ext cx="640080" cy="347472"/>
          </a:xfrm>
          <a:prstGeom prst="rect">
            <a:avLst/>
          </a:prstGeom>
          <a:noFill/>
          <a:ln/>
        </p:spPr>
        <p:txBody>
          <a:bodyPr wrap="square" lIns="0" tIns="0" rIns="0" bIns="0" rtlCol="0" anchor="ctr"/>
          <a:lstStyle/>
          <a:p>
            <a:pPr indent="0" marL="0">
              <a:buNone/>
            </a:pPr>
            <a:r>
              <a:rPr lang="en-US" sz="750" dirty="0">
                <a:solidFill>
                  <a:srgbClr val="1E293B"/>
                </a:solidFill>
                <a:latin typeface="Consolas" pitchFamily="34" charset="0"/>
                <a:ea typeface="Consolas" pitchFamily="34" charset="-122"/>
                <a:cs typeface="Consolas" pitchFamily="34" charset="-120"/>
              </a:rPr>
              <a:t>assistant</a:t>
            </a:r>
            <a:endParaRPr lang="en-US" sz="750" dirty="0"/>
          </a:p>
        </p:txBody>
      </p:sp>
      <p:sp>
        <p:nvSpPr>
          <p:cNvPr id="17" name="Text 15"/>
          <p:cNvSpPr/>
          <p:nvPr/>
        </p:nvSpPr>
        <p:spPr>
          <a:xfrm>
            <a:off x="2331720" y="2167128"/>
            <a:ext cx="2743200" cy="34747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Final LLM prose response shown to user</a:t>
            </a:r>
            <a:endParaRPr lang="en-US" sz="800" dirty="0"/>
          </a:p>
        </p:txBody>
      </p:sp>
      <p:sp>
        <p:nvSpPr>
          <p:cNvPr id="18" name="Shape 16"/>
          <p:cNvSpPr/>
          <p:nvPr/>
        </p:nvSpPr>
        <p:spPr>
          <a:xfrm>
            <a:off x="640080" y="2532888"/>
            <a:ext cx="4206240" cy="384048"/>
          </a:xfrm>
          <a:prstGeom prst="rect">
            <a:avLst/>
          </a:prstGeom>
          <a:solidFill>
            <a:srgbClr val="F8FAFC"/>
          </a:solidFill>
          <a:ln/>
        </p:spPr>
      </p:sp>
      <p:sp>
        <p:nvSpPr>
          <p:cNvPr id="19" name="Text 17"/>
          <p:cNvSpPr/>
          <p:nvPr/>
        </p:nvSpPr>
        <p:spPr>
          <a:xfrm>
            <a:off x="731520" y="2551176"/>
            <a:ext cx="960120" cy="347472"/>
          </a:xfrm>
          <a:prstGeom prst="rect">
            <a:avLst/>
          </a:prstGeom>
          <a:noFill/>
          <a:ln/>
        </p:spPr>
        <p:txBody>
          <a:bodyPr wrap="square" lIns="0" tIns="0" rIns="0" bIns="0" rtlCol="0" anchor="ctr"/>
          <a:lstStyle/>
          <a:p>
            <a:pPr indent="0" marL="0">
              <a:buNone/>
            </a:pPr>
            <a:r>
              <a:rPr lang="en-US" sz="750" dirty="0">
                <a:solidFill>
                  <a:srgbClr val="2563EB"/>
                </a:solidFill>
                <a:latin typeface="Consolas" pitchFamily="34" charset="0"/>
                <a:ea typeface="Consolas" pitchFamily="34" charset="-122"/>
                <a:cs typeface="Consolas" pitchFamily="34" charset="-120"/>
              </a:rPr>
              <a:t>tool_call</a:t>
            </a:r>
            <a:endParaRPr lang="en-US" sz="750" dirty="0"/>
          </a:p>
        </p:txBody>
      </p:sp>
      <p:sp>
        <p:nvSpPr>
          <p:cNvPr id="20" name="Text 18"/>
          <p:cNvSpPr/>
          <p:nvPr/>
        </p:nvSpPr>
        <p:spPr>
          <a:xfrm>
            <a:off x="1691640" y="2551176"/>
            <a:ext cx="640080" cy="347472"/>
          </a:xfrm>
          <a:prstGeom prst="rect">
            <a:avLst/>
          </a:prstGeom>
          <a:noFill/>
          <a:ln/>
        </p:spPr>
        <p:txBody>
          <a:bodyPr wrap="square" lIns="0" tIns="0" rIns="0" bIns="0" rtlCol="0" anchor="ctr"/>
          <a:lstStyle/>
          <a:p>
            <a:pPr indent="0" marL="0">
              <a:buNone/>
            </a:pPr>
            <a:r>
              <a:rPr lang="en-US" sz="750" dirty="0">
                <a:solidFill>
                  <a:srgbClr val="1E293B"/>
                </a:solidFill>
                <a:latin typeface="Consolas" pitchFamily="34" charset="0"/>
                <a:ea typeface="Consolas" pitchFamily="34" charset="-122"/>
                <a:cs typeface="Consolas" pitchFamily="34" charset="-120"/>
              </a:rPr>
              <a:t>assistant</a:t>
            </a:r>
            <a:endParaRPr lang="en-US" sz="750" dirty="0"/>
          </a:p>
        </p:txBody>
      </p:sp>
      <p:sp>
        <p:nvSpPr>
          <p:cNvPr id="21" name="Text 19"/>
          <p:cNvSpPr/>
          <p:nvPr/>
        </p:nvSpPr>
        <p:spPr>
          <a:xfrm>
            <a:off x="2331720" y="2551176"/>
            <a:ext cx="2743200" cy="34747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Raw JSON tool call the LLM emitted</a:t>
            </a:r>
            <a:endParaRPr lang="en-US" sz="800" dirty="0"/>
          </a:p>
        </p:txBody>
      </p:sp>
      <p:sp>
        <p:nvSpPr>
          <p:cNvPr id="22" name="Shape 20"/>
          <p:cNvSpPr/>
          <p:nvPr/>
        </p:nvSpPr>
        <p:spPr>
          <a:xfrm>
            <a:off x="640080" y="2916936"/>
            <a:ext cx="4206240" cy="384048"/>
          </a:xfrm>
          <a:prstGeom prst="rect">
            <a:avLst/>
          </a:prstGeom>
          <a:solidFill>
            <a:srgbClr val="FFFFFF"/>
          </a:solidFill>
          <a:ln/>
        </p:spPr>
      </p:sp>
      <p:sp>
        <p:nvSpPr>
          <p:cNvPr id="23" name="Text 21"/>
          <p:cNvSpPr/>
          <p:nvPr/>
        </p:nvSpPr>
        <p:spPr>
          <a:xfrm>
            <a:off x="731520" y="2935224"/>
            <a:ext cx="960120" cy="347472"/>
          </a:xfrm>
          <a:prstGeom prst="rect">
            <a:avLst/>
          </a:prstGeom>
          <a:noFill/>
          <a:ln/>
        </p:spPr>
        <p:txBody>
          <a:bodyPr wrap="square" lIns="0" tIns="0" rIns="0" bIns="0" rtlCol="0" anchor="ctr"/>
          <a:lstStyle/>
          <a:p>
            <a:pPr indent="0" marL="0">
              <a:buNone/>
            </a:pPr>
            <a:r>
              <a:rPr lang="en-US" sz="750" dirty="0">
                <a:solidFill>
                  <a:srgbClr val="2563EB"/>
                </a:solidFill>
                <a:latin typeface="Consolas" pitchFamily="34" charset="0"/>
                <a:ea typeface="Consolas" pitchFamily="34" charset="-122"/>
                <a:cs typeface="Consolas" pitchFamily="34" charset="-120"/>
              </a:rPr>
              <a:t>tool_result</a:t>
            </a:r>
            <a:endParaRPr lang="en-US" sz="750" dirty="0"/>
          </a:p>
        </p:txBody>
      </p:sp>
      <p:sp>
        <p:nvSpPr>
          <p:cNvPr id="24" name="Text 22"/>
          <p:cNvSpPr/>
          <p:nvPr/>
        </p:nvSpPr>
        <p:spPr>
          <a:xfrm>
            <a:off x="1691640" y="2935224"/>
            <a:ext cx="640080" cy="347472"/>
          </a:xfrm>
          <a:prstGeom prst="rect">
            <a:avLst/>
          </a:prstGeom>
          <a:noFill/>
          <a:ln/>
        </p:spPr>
        <p:txBody>
          <a:bodyPr wrap="square" lIns="0" tIns="0" rIns="0" bIns="0" rtlCol="0" anchor="ctr"/>
          <a:lstStyle/>
          <a:p>
            <a:pPr indent="0" marL="0">
              <a:buNone/>
            </a:pPr>
            <a:r>
              <a:rPr lang="en-US" sz="750" dirty="0">
                <a:solidFill>
                  <a:srgbClr val="1E293B"/>
                </a:solidFill>
                <a:latin typeface="Consolas" pitchFamily="34" charset="0"/>
                <a:ea typeface="Consolas" pitchFamily="34" charset="-122"/>
                <a:cs typeface="Consolas" pitchFamily="34" charset="-120"/>
              </a:rPr>
              <a:t>user</a:t>
            </a:r>
            <a:endParaRPr lang="en-US" sz="750" dirty="0"/>
          </a:p>
        </p:txBody>
      </p:sp>
      <p:sp>
        <p:nvSpPr>
          <p:cNvPr id="25" name="Text 23"/>
          <p:cNvSpPr/>
          <p:nvPr/>
        </p:nvSpPr>
        <p:spPr>
          <a:xfrm>
            <a:off x="2331720" y="2935224"/>
            <a:ext cx="2743200" cy="34747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Tool output fed back into context</a:t>
            </a:r>
            <a:endParaRPr lang="en-US" sz="800" dirty="0"/>
          </a:p>
        </p:txBody>
      </p:sp>
      <p:sp>
        <p:nvSpPr>
          <p:cNvPr id="26" name="Shape 24"/>
          <p:cNvSpPr/>
          <p:nvPr/>
        </p:nvSpPr>
        <p:spPr>
          <a:xfrm>
            <a:off x="640080" y="3300984"/>
            <a:ext cx="4206240" cy="384048"/>
          </a:xfrm>
          <a:prstGeom prst="rect">
            <a:avLst/>
          </a:prstGeom>
          <a:solidFill>
            <a:srgbClr val="F8FAFC"/>
          </a:solidFill>
          <a:ln/>
        </p:spPr>
      </p:sp>
      <p:sp>
        <p:nvSpPr>
          <p:cNvPr id="27" name="Text 25"/>
          <p:cNvSpPr/>
          <p:nvPr/>
        </p:nvSpPr>
        <p:spPr>
          <a:xfrm>
            <a:off x="731520" y="3319272"/>
            <a:ext cx="960120" cy="347472"/>
          </a:xfrm>
          <a:prstGeom prst="rect">
            <a:avLst/>
          </a:prstGeom>
          <a:noFill/>
          <a:ln/>
        </p:spPr>
        <p:txBody>
          <a:bodyPr wrap="square" lIns="0" tIns="0" rIns="0" bIns="0" rtlCol="0" anchor="ctr"/>
          <a:lstStyle/>
          <a:p>
            <a:pPr indent="0" marL="0">
              <a:buNone/>
            </a:pPr>
            <a:r>
              <a:rPr lang="en-US" sz="750" dirty="0">
                <a:solidFill>
                  <a:srgbClr val="2563EB"/>
                </a:solidFill>
                <a:latin typeface="Consolas" pitchFamily="34" charset="0"/>
                <a:ea typeface="Consolas" pitchFamily="34" charset="-122"/>
                <a:cs typeface="Consolas" pitchFamily="34" charset="-120"/>
              </a:rPr>
              <a:t>plan</a:t>
            </a:r>
            <a:endParaRPr lang="en-US" sz="750" dirty="0"/>
          </a:p>
        </p:txBody>
      </p:sp>
      <p:sp>
        <p:nvSpPr>
          <p:cNvPr id="28" name="Text 26"/>
          <p:cNvSpPr/>
          <p:nvPr/>
        </p:nvSpPr>
        <p:spPr>
          <a:xfrm>
            <a:off x="1691640" y="3319272"/>
            <a:ext cx="640080" cy="347472"/>
          </a:xfrm>
          <a:prstGeom prst="rect">
            <a:avLst/>
          </a:prstGeom>
          <a:noFill/>
          <a:ln/>
        </p:spPr>
        <p:txBody>
          <a:bodyPr wrap="square" lIns="0" tIns="0" rIns="0" bIns="0" rtlCol="0" anchor="ctr"/>
          <a:lstStyle/>
          <a:p>
            <a:pPr indent="0" marL="0">
              <a:buNone/>
            </a:pPr>
            <a:r>
              <a:rPr lang="en-US" sz="750" dirty="0">
                <a:solidFill>
                  <a:srgbClr val="1E293B"/>
                </a:solidFill>
                <a:latin typeface="Consolas" pitchFamily="34" charset="0"/>
                <a:ea typeface="Consolas" pitchFamily="34" charset="-122"/>
                <a:cs typeface="Consolas" pitchFamily="34" charset="-120"/>
              </a:rPr>
              <a:t>assistant</a:t>
            </a:r>
            <a:endParaRPr lang="en-US" sz="750" dirty="0"/>
          </a:p>
        </p:txBody>
      </p:sp>
      <p:sp>
        <p:nvSpPr>
          <p:cNvPr id="29" name="Text 27"/>
          <p:cNvSpPr/>
          <p:nvPr/>
        </p:nvSpPr>
        <p:spPr>
          <a:xfrm>
            <a:off x="2331720" y="3319272"/>
            <a:ext cx="2743200" cy="34747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JSON list of step instructions (plan-execute only)</a:t>
            </a:r>
            <a:endParaRPr lang="en-US" sz="800" dirty="0"/>
          </a:p>
        </p:txBody>
      </p:sp>
      <p:sp>
        <p:nvSpPr>
          <p:cNvPr id="30" name="Shape 28"/>
          <p:cNvSpPr/>
          <p:nvPr/>
        </p:nvSpPr>
        <p:spPr>
          <a:xfrm>
            <a:off x="640080" y="3685032"/>
            <a:ext cx="4206240" cy="384048"/>
          </a:xfrm>
          <a:prstGeom prst="rect">
            <a:avLst/>
          </a:prstGeom>
          <a:solidFill>
            <a:srgbClr val="FFFFFF"/>
          </a:solidFill>
          <a:ln/>
        </p:spPr>
      </p:sp>
      <p:sp>
        <p:nvSpPr>
          <p:cNvPr id="31" name="Text 29"/>
          <p:cNvSpPr/>
          <p:nvPr/>
        </p:nvSpPr>
        <p:spPr>
          <a:xfrm>
            <a:off x="731520" y="3703320"/>
            <a:ext cx="960120" cy="347472"/>
          </a:xfrm>
          <a:prstGeom prst="rect">
            <a:avLst/>
          </a:prstGeom>
          <a:noFill/>
          <a:ln/>
        </p:spPr>
        <p:txBody>
          <a:bodyPr wrap="square" lIns="0" tIns="0" rIns="0" bIns="0" rtlCol="0" anchor="ctr"/>
          <a:lstStyle/>
          <a:p>
            <a:pPr indent="0" marL="0">
              <a:buNone/>
            </a:pPr>
            <a:r>
              <a:rPr lang="en-US" sz="750" dirty="0">
                <a:solidFill>
                  <a:srgbClr val="2563EB"/>
                </a:solidFill>
                <a:latin typeface="Consolas" pitchFamily="34" charset="0"/>
                <a:ea typeface="Consolas" pitchFamily="34" charset="-122"/>
                <a:cs typeface="Consolas" pitchFamily="34" charset="-120"/>
              </a:rPr>
              <a:t>step_result</a:t>
            </a:r>
            <a:endParaRPr lang="en-US" sz="750" dirty="0"/>
          </a:p>
        </p:txBody>
      </p:sp>
      <p:sp>
        <p:nvSpPr>
          <p:cNvPr id="32" name="Text 30"/>
          <p:cNvSpPr/>
          <p:nvPr/>
        </p:nvSpPr>
        <p:spPr>
          <a:xfrm>
            <a:off x="1691640" y="3703320"/>
            <a:ext cx="640080" cy="347472"/>
          </a:xfrm>
          <a:prstGeom prst="rect">
            <a:avLst/>
          </a:prstGeom>
          <a:noFill/>
          <a:ln/>
        </p:spPr>
        <p:txBody>
          <a:bodyPr wrap="square" lIns="0" tIns="0" rIns="0" bIns="0" rtlCol="0" anchor="ctr"/>
          <a:lstStyle/>
          <a:p>
            <a:pPr indent="0" marL="0">
              <a:buNone/>
            </a:pPr>
            <a:r>
              <a:rPr lang="en-US" sz="750" dirty="0">
                <a:solidFill>
                  <a:srgbClr val="1E293B"/>
                </a:solidFill>
                <a:latin typeface="Consolas" pitchFamily="34" charset="0"/>
                <a:ea typeface="Consolas" pitchFamily="34" charset="-122"/>
                <a:cs typeface="Consolas" pitchFamily="34" charset="-120"/>
              </a:rPr>
              <a:t>assistant</a:t>
            </a:r>
            <a:endParaRPr lang="en-US" sz="750" dirty="0"/>
          </a:p>
        </p:txBody>
      </p:sp>
      <p:sp>
        <p:nvSpPr>
          <p:cNvPr id="33" name="Text 31"/>
          <p:cNvSpPr/>
          <p:nvPr/>
        </p:nvSpPr>
        <p:spPr>
          <a:xfrm>
            <a:off x="2331720" y="3703320"/>
            <a:ext cx="2743200" cy="34747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Per-step result + tool_data blob (plan-execute)</a:t>
            </a:r>
            <a:endParaRPr lang="en-US" sz="800" dirty="0"/>
          </a:p>
        </p:txBody>
      </p:sp>
      <p:sp>
        <p:nvSpPr>
          <p:cNvPr id="34" name="Text 32"/>
          <p:cNvSpPr/>
          <p:nvPr/>
        </p:nvSpPr>
        <p:spPr>
          <a:xfrm>
            <a:off x="685800" y="4023360"/>
            <a:ext cx="4114800" cy="594360"/>
          </a:xfrm>
          <a:prstGeom prst="rect">
            <a:avLst/>
          </a:prstGeom>
          <a:noFill/>
          <a:ln/>
        </p:spPr>
        <p:txBody>
          <a:bodyPr wrap="square" lIns="0" tIns="0" rIns="0" bIns="0" rtlCol="0" anchor="ctr"/>
          <a:lstStyle/>
          <a:p>
            <a:pPr indent="0" marL="0">
              <a:lnSpc>
                <a:spcPct val="130000"/>
              </a:lnSpc>
              <a:buNone/>
            </a:pPr>
            <a:r>
              <a:rPr lang="en-US" sz="800" i="1" dirty="0">
                <a:solidFill>
                  <a:srgbClr val="94A3B8"/>
                </a:solidFill>
                <a:latin typeface="Calibri" pitchFamily="34" charset="0"/>
                <a:ea typeface="Calibri" pitchFamily="34" charset="-122"/>
                <a:cs typeface="Calibri" pitchFamily="34" charset="-120"/>
              </a:rPr>
              <a:t>On each turn, all messages are reconstructed in sequence order into the LLM's context: [system_prompt, …history…, user_message]. Uploaded files are tracked as system-role messages and re-injected so the LLM always knows what's available.</a:t>
            </a:r>
            <a:endParaRPr lang="en-US" sz="800" dirty="0"/>
          </a:p>
        </p:txBody>
      </p:sp>
      <p:sp>
        <p:nvSpPr>
          <p:cNvPr id="35" name="Shape 33"/>
          <p:cNvSpPr/>
          <p:nvPr/>
        </p:nvSpPr>
        <p:spPr>
          <a:xfrm>
            <a:off x="5212080" y="1143000"/>
            <a:ext cx="3566160" cy="3611880"/>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36" name="Text 34"/>
          <p:cNvSpPr/>
          <p:nvPr/>
        </p:nvSpPr>
        <p:spPr>
          <a:xfrm>
            <a:off x="5349240" y="1207008"/>
            <a:ext cx="329184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SSE Event Types (streamed to client)</a:t>
            </a:r>
            <a:endParaRPr lang="en-US" sz="1000" dirty="0"/>
          </a:p>
        </p:txBody>
      </p:sp>
      <p:sp>
        <p:nvSpPr>
          <p:cNvPr id="37" name="Shape 35"/>
          <p:cNvSpPr/>
          <p:nvPr/>
        </p:nvSpPr>
        <p:spPr>
          <a:xfrm>
            <a:off x="5394960" y="1554480"/>
            <a:ext cx="109728" cy="109728"/>
          </a:xfrm>
          <a:prstGeom prst="ellipse">
            <a:avLst/>
          </a:prstGeom>
          <a:solidFill>
            <a:srgbClr val="94A3B8"/>
          </a:solidFill>
          <a:ln/>
        </p:spPr>
      </p:sp>
      <p:sp>
        <p:nvSpPr>
          <p:cNvPr id="38" name="Text 36"/>
          <p:cNvSpPr/>
          <p:nvPr/>
        </p:nvSpPr>
        <p:spPr>
          <a:xfrm>
            <a:off x="5577840" y="1481328"/>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status</a:t>
            </a:r>
            <a:endParaRPr lang="en-US" sz="800" dirty="0"/>
          </a:p>
        </p:txBody>
      </p:sp>
      <p:sp>
        <p:nvSpPr>
          <p:cNvPr id="39" name="Text 37"/>
          <p:cNvSpPr/>
          <p:nvPr/>
        </p:nvSpPr>
        <p:spPr>
          <a:xfrm>
            <a:off x="6629400" y="1481328"/>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Thinking, calling a tool, summarizing — real-time feedback</a:t>
            </a:r>
            <a:endParaRPr lang="en-US" sz="750" dirty="0"/>
          </a:p>
        </p:txBody>
      </p:sp>
      <p:sp>
        <p:nvSpPr>
          <p:cNvPr id="40" name="Shape 38"/>
          <p:cNvSpPr/>
          <p:nvPr/>
        </p:nvSpPr>
        <p:spPr>
          <a:xfrm>
            <a:off x="5394960" y="1883664"/>
            <a:ext cx="109728" cy="109728"/>
          </a:xfrm>
          <a:prstGeom prst="ellipse">
            <a:avLst/>
          </a:prstGeom>
          <a:solidFill>
            <a:srgbClr val="2563EB"/>
          </a:solidFill>
          <a:ln/>
        </p:spPr>
      </p:sp>
      <p:sp>
        <p:nvSpPr>
          <p:cNvPr id="41" name="Text 39"/>
          <p:cNvSpPr/>
          <p:nvPr/>
        </p:nvSpPr>
        <p:spPr>
          <a:xfrm>
            <a:off x="5577840" y="1810512"/>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plan</a:t>
            </a:r>
            <a:endParaRPr lang="en-US" sz="800" dirty="0"/>
          </a:p>
        </p:txBody>
      </p:sp>
      <p:sp>
        <p:nvSpPr>
          <p:cNvPr id="42" name="Text 40"/>
          <p:cNvSpPr/>
          <p:nvPr/>
        </p:nvSpPr>
        <p:spPr>
          <a:xfrm>
            <a:off x="6629400" y="1810512"/>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Structured step list emitted after the planner parses a plan</a:t>
            </a:r>
            <a:endParaRPr lang="en-US" sz="750" dirty="0"/>
          </a:p>
        </p:txBody>
      </p:sp>
      <p:sp>
        <p:nvSpPr>
          <p:cNvPr id="43" name="Shape 41"/>
          <p:cNvSpPr/>
          <p:nvPr/>
        </p:nvSpPr>
        <p:spPr>
          <a:xfrm>
            <a:off x="5394960" y="2212848"/>
            <a:ext cx="109728" cy="109728"/>
          </a:xfrm>
          <a:prstGeom prst="ellipse">
            <a:avLst/>
          </a:prstGeom>
          <a:solidFill>
            <a:srgbClr val="0D9488"/>
          </a:solidFill>
          <a:ln/>
        </p:spPr>
      </p:sp>
      <p:sp>
        <p:nvSpPr>
          <p:cNvPr id="44" name="Text 42"/>
          <p:cNvSpPr/>
          <p:nvPr/>
        </p:nvSpPr>
        <p:spPr>
          <a:xfrm>
            <a:off x="5577840" y="2139696"/>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step_progress</a:t>
            </a:r>
            <a:endParaRPr lang="en-US" sz="800" dirty="0"/>
          </a:p>
        </p:txBody>
      </p:sp>
      <p:sp>
        <p:nvSpPr>
          <p:cNvPr id="45" name="Text 43"/>
          <p:cNvSpPr/>
          <p:nvPr/>
        </p:nvSpPr>
        <p:spPr>
          <a:xfrm>
            <a:off x="6629400" y="2139696"/>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Step number, total, description, and status for each plan step</a:t>
            </a:r>
            <a:endParaRPr lang="en-US" sz="750" dirty="0"/>
          </a:p>
        </p:txBody>
      </p:sp>
      <p:sp>
        <p:nvSpPr>
          <p:cNvPr id="46" name="Shape 44"/>
          <p:cNvSpPr/>
          <p:nvPr/>
        </p:nvSpPr>
        <p:spPr>
          <a:xfrm>
            <a:off x="5394960" y="2542032"/>
            <a:ext cx="109728" cy="109728"/>
          </a:xfrm>
          <a:prstGeom prst="ellipse">
            <a:avLst/>
          </a:prstGeom>
          <a:solidFill>
            <a:srgbClr val="1E293B"/>
          </a:solidFill>
          <a:ln/>
        </p:spPr>
      </p:sp>
      <p:sp>
        <p:nvSpPr>
          <p:cNvPr id="47" name="Text 45"/>
          <p:cNvSpPr/>
          <p:nvPr/>
        </p:nvSpPr>
        <p:spPr>
          <a:xfrm>
            <a:off x="5577840" y="2468880"/>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message</a:t>
            </a:r>
            <a:endParaRPr lang="en-US" sz="800" dirty="0"/>
          </a:p>
        </p:txBody>
      </p:sp>
      <p:sp>
        <p:nvSpPr>
          <p:cNvPr id="48" name="Text 46"/>
          <p:cNvSpPr/>
          <p:nvPr/>
        </p:nvSpPr>
        <p:spPr>
          <a:xfrm>
            <a:off x="6629400" y="2468880"/>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Final LLM response text — the answer the user sees</a:t>
            </a:r>
            <a:endParaRPr lang="en-US" sz="750" dirty="0"/>
          </a:p>
        </p:txBody>
      </p:sp>
      <p:sp>
        <p:nvSpPr>
          <p:cNvPr id="49" name="Shape 47"/>
          <p:cNvSpPr/>
          <p:nvPr/>
        </p:nvSpPr>
        <p:spPr>
          <a:xfrm>
            <a:off x="5394960" y="2871216"/>
            <a:ext cx="109728" cy="109728"/>
          </a:xfrm>
          <a:prstGeom prst="ellipse">
            <a:avLst/>
          </a:prstGeom>
          <a:solidFill>
            <a:srgbClr val="0D9488"/>
          </a:solidFill>
          <a:ln/>
        </p:spPr>
      </p:sp>
      <p:sp>
        <p:nvSpPr>
          <p:cNvPr id="50" name="Text 48"/>
          <p:cNvSpPr/>
          <p:nvPr/>
        </p:nvSpPr>
        <p:spPr>
          <a:xfrm>
            <a:off x="5577840" y="2798064"/>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result_ready</a:t>
            </a:r>
            <a:endParaRPr lang="en-US" sz="800" dirty="0"/>
          </a:p>
        </p:txBody>
      </p:sp>
      <p:sp>
        <p:nvSpPr>
          <p:cNvPr id="51" name="Text 49"/>
          <p:cNvSpPr/>
          <p:nvPr/>
        </p:nvSpPr>
        <p:spPr>
          <a:xfrm>
            <a:off x="6629400" y="2798064"/>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Workflow processing complete, documents available</a:t>
            </a:r>
            <a:endParaRPr lang="en-US" sz="750" dirty="0"/>
          </a:p>
        </p:txBody>
      </p:sp>
      <p:sp>
        <p:nvSpPr>
          <p:cNvPr id="52" name="Shape 50"/>
          <p:cNvSpPr/>
          <p:nvPr/>
        </p:nvSpPr>
        <p:spPr>
          <a:xfrm>
            <a:off x="5394960" y="3200400"/>
            <a:ext cx="109728" cy="109728"/>
          </a:xfrm>
          <a:prstGeom prst="ellipse">
            <a:avLst/>
          </a:prstGeom>
          <a:solidFill>
            <a:srgbClr val="DC2626"/>
          </a:solidFill>
          <a:ln/>
        </p:spPr>
      </p:sp>
      <p:sp>
        <p:nvSpPr>
          <p:cNvPr id="53" name="Text 51"/>
          <p:cNvSpPr/>
          <p:nvPr/>
        </p:nvSpPr>
        <p:spPr>
          <a:xfrm>
            <a:off x="5577840" y="3127248"/>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job_failed</a:t>
            </a:r>
            <a:endParaRPr lang="en-US" sz="800" dirty="0"/>
          </a:p>
        </p:txBody>
      </p:sp>
      <p:sp>
        <p:nvSpPr>
          <p:cNvPr id="54" name="Text 52"/>
          <p:cNvSpPr/>
          <p:nvPr/>
        </p:nvSpPr>
        <p:spPr>
          <a:xfrm>
            <a:off x="6629400" y="3127248"/>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Workflow processing failed for a document</a:t>
            </a:r>
            <a:endParaRPr lang="en-US" sz="750" dirty="0"/>
          </a:p>
        </p:txBody>
      </p:sp>
      <p:sp>
        <p:nvSpPr>
          <p:cNvPr id="55" name="Shape 53"/>
          <p:cNvSpPr/>
          <p:nvPr/>
        </p:nvSpPr>
        <p:spPr>
          <a:xfrm>
            <a:off x="5394960" y="3529584"/>
            <a:ext cx="109728" cy="109728"/>
          </a:xfrm>
          <a:prstGeom prst="ellipse">
            <a:avLst/>
          </a:prstGeom>
          <a:solidFill>
            <a:srgbClr val="D97706"/>
          </a:solidFill>
          <a:ln/>
        </p:spPr>
      </p:sp>
      <p:sp>
        <p:nvSpPr>
          <p:cNvPr id="56" name="Text 54"/>
          <p:cNvSpPr/>
          <p:nvPr/>
        </p:nvSpPr>
        <p:spPr>
          <a:xfrm>
            <a:off x="5577840" y="3456432"/>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review_required</a:t>
            </a:r>
            <a:endParaRPr lang="en-US" sz="800" dirty="0"/>
          </a:p>
        </p:txBody>
      </p:sp>
      <p:sp>
        <p:nvSpPr>
          <p:cNvPr id="57" name="Text 55"/>
          <p:cNvSpPr/>
          <p:nvPr/>
        </p:nvSpPr>
        <p:spPr>
          <a:xfrm>
            <a:off x="6629400" y="3456432"/>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Document needs human review — includes review URL</a:t>
            </a:r>
            <a:endParaRPr lang="en-US" sz="750" dirty="0"/>
          </a:p>
        </p:txBody>
      </p:sp>
      <p:sp>
        <p:nvSpPr>
          <p:cNvPr id="58" name="Shape 56"/>
          <p:cNvSpPr/>
          <p:nvPr/>
        </p:nvSpPr>
        <p:spPr>
          <a:xfrm>
            <a:off x="5394960" y="3858768"/>
            <a:ext cx="109728" cy="109728"/>
          </a:xfrm>
          <a:prstGeom prst="ellipse">
            <a:avLst/>
          </a:prstGeom>
          <a:solidFill>
            <a:srgbClr val="7C3AED"/>
          </a:solidFill>
          <a:ln/>
        </p:spPr>
      </p:sp>
      <p:sp>
        <p:nvSpPr>
          <p:cNvPr id="59" name="Text 57"/>
          <p:cNvSpPr/>
          <p:nvPr/>
        </p:nvSpPr>
        <p:spPr>
          <a:xfrm>
            <a:off x="5577840" y="3785616"/>
            <a:ext cx="1097280" cy="256032"/>
          </a:xfrm>
          <a:prstGeom prst="rect">
            <a:avLst/>
          </a:prstGeom>
          <a:noFill/>
          <a:ln/>
        </p:spPr>
        <p:txBody>
          <a:bodyPr wrap="square" lIns="0" tIns="0" rIns="0" bIns="0" rtlCol="0" anchor="ctr"/>
          <a:lstStyle/>
          <a:p>
            <a:pPr indent="0" marL="0">
              <a:buNone/>
            </a:pPr>
            <a:r>
              <a:rPr lang="en-US" sz="800" b="1" dirty="0">
                <a:solidFill>
                  <a:srgbClr val="1E293B"/>
                </a:solidFill>
                <a:latin typeface="Consolas" pitchFamily="34" charset="0"/>
                <a:ea typeface="Consolas" pitchFamily="34" charset="-122"/>
                <a:cs typeface="Consolas" pitchFamily="34" charset="-120"/>
              </a:rPr>
              <a:t>download_ready</a:t>
            </a:r>
            <a:endParaRPr lang="en-US" sz="800" dirty="0"/>
          </a:p>
        </p:txBody>
      </p:sp>
      <p:sp>
        <p:nvSpPr>
          <p:cNvPr id="60" name="Text 58"/>
          <p:cNvSpPr/>
          <p:nvPr/>
        </p:nvSpPr>
        <p:spPr>
          <a:xfrm>
            <a:off x="6629400" y="3785616"/>
            <a:ext cx="1965960" cy="329184"/>
          </a:xfrm>
          <a:prstGeom prst="rect">
            <a:avLst/>
          </a:prstGeom>
          <a:noFill/>
          <a:ln/>
        </p:spPr>
        <p:txBody>
          <a:bodyPr wrap="square" lIns="0" tIns="0" rIns="0" bIns="0" rtlCol="0" anchor="ctr"/>
          <a:lstStyle/>
          <a:p>
            <a:pPr indent="0" marL="0">
              <a:lnSpc>
                <a:spcPct val="120000"/>
              </a:lnSpc>
              <a:buNone/>
            </a:pPr>
            <a:r>
              <a:rPr lang="en-US" sz="750" dirty="0">
                <a:solidFill>
                  <a:srgbClr val="64748B"/>
                </a:solidFill>
                <a:latin typeface="Calibri" pitchFamily="34" charset="0"/>
                <a:ea typeface="Calibri" pitchFamily="34" charset="-122"/>
                <a:cs typeface="Calibri" pitchFamily="34" charset="-120"/>
              </a:rPr>
              <a:t>Processed file available for download</a:t>
            </a:r>
            <a:endParaRPr lang="en-US" sz="750" dirty="0"/>
          </a:p>
        </p:txBody>
      </p:sp>
      <p:sp>
        <p:nvSpPr>
          <p:cNvPr id="61" name="Text 59"/>
          <p:cNvSpPr/>
          <p:nvPr/>
        </p:nvSpPr>
        <p:spPr>
          <a:xfrm>
            <a:off x="5349240" y="4206240"/>
            <a:ext cx="3291840" cy="457200"/>
          </a:xfrm>
          <a:prstGeom prst="rect">
            <a:avLst/>
          </a:prstGeom>
          <a:noFill/>
          <a:ln/>
        </p:spPr>
        <p:txBody>
          <a:bodyPr wrap="square" lIns="0" tIns="0" rIns="0" bIns="0" rtlCol="0" anchor="ctr"/>
          <a:lstStyle/>
          <a:p>
            <a:pPr indent="0" marL="0">
              <a:lnSpc>
                <a:spcPct val="130000"/>
              </a:lnSpc>
              <a:buNone/>
            </a:pPr>
            <a:r>
              <a:rPr lang="en-US" sz="800" i="1" dirty="0">
                <a:solidFill>
                  <a:srgbClr val="94A3B8"/>
                </a:solidFill>
                <a:latin typeface="Calibri" pitchFamily="34" charset="0"/>
                <a:ea typeface="Calibri" pitchFamily="34" charset="-122"/>
                <a:cs typeface="Calibri" pitchFamily="34" charset="-120"/>
              </a:rPr>
              <a:t>SSE events are ephemeral — they drive real-time UI feedback but are not persisted. The substantive record lives in the message rows above.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Workflow Agent — System Architecture</dc:title>
  <dc:subject>PptxGenJS Presentation</dc:subject>
  <dc:creator>State Street</dc:creator>
  <cp:lastModifiedBy>State Street</cp:lastModifiedBy>
  <cp:revision>1</cp:revision>
  <dcterms:created xsi:type="dcterms:W3CDTF">2026-06-05T17:35:51Z</dcterms:created>
  <dcterms:modified xsi:type="dcterms:W3CDTF">2026-06-05T17:35:51Z</dcterms:modified>
</cp:coreProperties>
</file>